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daeb00c1a8_5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daeb00c1a8_5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daeb00c1a8_5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daeb00c1a8_5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daeb00c1a8_5_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aeb00c1a8_5_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aeb00c1a8_5_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aeb00c1a8_5_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aeb00c1a8_5_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aeb00c1a8_5_1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daeb00c1a8_5_1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aeb00c1a8_5_1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aeb00c1a8_5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daeb00c1a8_5_1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aeb00c1a8_5_1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aeb00c1a8_5_2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daeb00c1a8_5_2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aeb00c1a8_5_2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aeb00c1a8_5_2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daeb00c1a8_5_2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aeb00c1a8_5_2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aeb00c1a8_5_2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daeb00c1a8_5_2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aeb00c1a8_5_2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aeb00c1a8_5_3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daeb00c1a8_5_3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aeb00c1a8_5_3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aeb00c1a8_5_3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daeb00c1a8_5_3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aeb00c1a8_5_3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aeb00c1a8_5_3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aeb00c1a8_5_3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aeb00c1a8_5_3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aeb00c1a8_5_4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daeb00c1a8_5_4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daeb00c1a8_5_4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83750" y="361350"/>
            <a:ext cx="4297800" cy="44208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412350" y="635670"/>
            <a:ext cx="3840600" cy="3840600"/>
          </a:xfrm>
          <a:prstGeom prst="ellipse">
            <a:avLst/>
          </a:prstGeom>
          <a:solidFill>
            <a:srgbClr val="0D0D0D"/>
          </a:solidFill>
          <a:ln cap="flat" cmpd="sng" w="152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006710" y="1230030"/>
            <a:ext cx="2651700" cy="2651700"/>
          </a:xfrm>
          <a:prstGeom prst="ellipse">
            <a:avLst/>
          </a:prstGeom>
          <a:solidFill>
            <a:srgbClr val="0D0D0D"/>
          </a:solidFill>
          <a:ln cap="flat" cmpd="sng" w="9525">
            <a:solidFill>
              <a:srgbClr val="C9A8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418190" y="2373030"/>
            <a:ext cx="1828800" cy="640200"/>
          </a:xfrm>
          <a:prstGeom prst="rect">
            <a:avLst/>
          </a:prstGeom>
          <a:solidFill>
            <a:srgbClr val="1A1400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1418190" y="237303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EAGLE-3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56902" y="1230030"/>
            <a:ext cx="594300" cy="59430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32675" y="1289425"/>
            <a:ext cx="82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CONCURRENCY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2352" y="3310370"/>
            <a:ext cx="594300" cy="59430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06547" y="3369763"/>
            <a:ext cx="100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SILICON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04190" y="1230030"/>
            <a:ext cx="594300" cy="59430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498410" y="1289423"/>
            <a:ext cx="1005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04190" y="3378870"/>
            <a:ext cx="594300" cy="59430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557051" y="3477873"/>
            <a:ext cx="888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2003405" y="1367115"/>
            <a:ext cx="0" cy="1005900"/>
          </a:xfrm>
          <a:prstGeom prst="straightConnector1">
            <a:avLst/>
          </a:prstGeom>
          <a:noFill/>
          <a:ln cap="flat" cmpd="sng" w="9525">
            <a:solidFill>
              <a:srgbClr val="C9A84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2167997" y="1367115"/>
            <a:ext cx="0" cy="1005900"/>
          </a:xfrm>
          <a:prstGeom prst="straightConnector1">
            <a:avLst/>
          </a:prstGeom>
          <a:noFill/>
          <a:ln cap="flat" cmpd="sng" w="9525">
            <a:solidFill>
              <a:srgbClr val="C9A84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2332589" y="1367115"/>
            <a:ext cx="0" cy="1005900"/>
          </a:xfrm>
          <a:prstGeom prst="straightConnector1">
            <a:avLst/>
          </a:prstGeom>
          <a:noFill/>
          <a:ln cap="flat" cmpd="sng" w="9525">
            <a:solidFill>
              <a:srgbClr val="C9A84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2497181" y="1367115"/>
            <a:ext cx="0" cy="1005900"/>
          </a:xfrm>
          <a:prstGeom prst="straightConnector1">
            <a:avLst/>
          </a:prstGeom>
          <a:noFill/>
          <a:ln cap="flat" cmpd="sng" w="9525">
            <a:solidFill>
              <a:srgbClr val="C9A84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2661773" y="1367115"/>
            <a:ext cx="0" cy="1005900"/>
          </a:xfrm>
          <a:prstGeom prst="straightConnector1">
            <a:avLst/>
          </a:prstGeom>
          <a:noFill/>
          <a:ln cap="flat" cmpd="sng" w="9525">
            <a:solidFill>
              <a:srgbClr val="C9A84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4572000" y="164592"/>
            <a:ext cx="438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APPLIED MACHINE LEARNING </a:t>
            </a:r>
            <a:r>
              <a:rPr lang="en" sz="7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IN THE</a:t>
            </a: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CLOUD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0" y="502920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CHARACTERIZING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0" y="1170432"/>
            <a:ext cx="438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000"/>
              <a:buFont typeface="Calibri"/>
              <a:buNone/>
            </a:pPr>
            <a:r>
              <a:rPr b="1" i="0" lang="en" sz="5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EAGLE-3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0" y="1993392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SPECULATIVE DECODING IN vLLM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3"/>
          <p:cNvCxnSpPr/>
          <p:nvPr/>
        </p:nvCxnSpPr>
        <p:spPr>
          <a:xfrm>
            <a:off x="5029200" y="2788920"/>
            <a:ext cx="3474720" cy="0"/>
          </a:xfrm>
          <a:prstGeom prst="straightConnector1">
            <a:avLst/>
          </a:prstGeom>
          <a:noFill/>
          <a:ln cap="flat" cmpd="sng" w="101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"/>
          <p:cNvSpPr/>
          <p:nvPr/>
        </p:nvSpPr>
        <p:spPr>
          <a:xfrm>
            <a:off x="4572000" y="292608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Performance across Cloud GPUs and Apple Silicon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under </a:t>
            </a:r>
            <a:r>
              <a:rPr lang="en" sz="12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b="0" i="0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Concurrency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913200" y="3881725"/>
            <a:ext cx="33186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Aaryaman </a:t>
            </a:r>
            <a:b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Shreya Banga</a:t>
            </a:r>
            <a:b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Rajvardhan</a:t>
            </a:r>
            <a:b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Himanshu Jhawar (hj2713)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74320" y="9144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274320" y="9144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118872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CORE PROBLEM &amp; OUR APPROACH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74320" y="292608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BREAKING THE MEMORY BANDWIDTH BOTTLENECK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285750" y="1143000"/>
            <a:ext cx="8572500" cy="2381400"/>
            <a:chOff x="285750" y="1143000"/>
            <a:chExt cx="8572500" cy="2381400"/>
          </a:xfrm>
        </p:grpSpPr>
        <p:sp>
          <p:nvSpPr>
            <p:cNvPr id="47" name="Google Shape;47;p4"/>
            <p:cNvSpPr/>
            <p:nvPr/>
          </p:nvSpPr>
          <p:spPr>
            <a:xfrm>
              <a:off x="285750" y="1143000"/>
              <a:ext cx="2743200" cy="2381400"/>
            </a:xfrm>
            <a:prstGeom prst="roundRect">
              <a:avLst>
                <a:gd fmla="val 1600" name="adj"/>
              </a:avLst>
            </a:prstGeom>
            <a:solidFill>
              <a:srgbClr val="111111"/>
            </a:solidFill>
            <a:ln cap="flat" cmpd="sng" w="14300">
              <a:solidFill>
                <a:srgbClr val="E539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85750" y="1143000"/>
              <a:ext cx="2743200" cy="342900"/>
            </a:xfrm>
            <a:prstGeom prst="roundRect">
              <a:avLst>
                <a:gd fmla="val 11111" name="adj"/>
              </a:avLst>
            </a:prstGeom>
            <a:solidFill>
              <a:srgbClr val="2A0A0A"/>
            </a:solidFill>
            <a:ln cap="flat" cmpd="sng" w="9525">
              <a:solidFill>
                <a:srgbClr val="E539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285750" y="1143000"/>
              <a:ext cx="27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53935"/>
                  </a:solidFill>
                  <a:latin typeface="Calibri"/>
                  <a:ea typeface="Calibri"/>
                  <a:cs typeface="Calibri"/>
                  <a:sym typeface="Calibri"/>
                </a:rPr>
                <a:t>THE PROBLEM</a:t>
              </a:r>
              <a:endParaRPr b="1" sz="1100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428625" y="1571625"/>
              <a:ext cx="2457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LLM inference is memory-bandwidth bound.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Most time is spent moving weights from VRAM to compute cores — not actually computing.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3200400" y="1143000"/>
              <a:ext cx="2743200" cy="2381400"/>
            </a:xfrm>
            <a:prstGeom prst="roundRect">
              <a:avLst>
                <a:gd fmla="val 1600" name="adj"/>
              </a:avLst>
            </a:prstGeom>
            <a:solidFill>
              <a:srgbClr val="111111"/>
            </a:solidFill>
            <a:ln cap="flat" cmpd="sng" w="14300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3200400" y="1143000"/>
              <a:ext cx="2743200" cy="342900"/>
            </a:xfrm>
            <a:prstGeom prst="roundRect">
              <a:avLst>
                <a:gd fmla="val 11111" name="adj"/>
              </a:avLst>
            </a:prstGeom>
            <a:solidFill>
              <a:srgbClr val="0A1C24"/>
            </a:solidFill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 txBox="1"/>
            <p:nvPr/>
          </p:nvSpPr>
          <p:spPr>
            <a:xfrm>
              <a:off x="3200400" y="1143000"/>
              <a:ext cx="27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FC3F7"/>
                  </a:solidFill>
                  <a:latin typeface="Calibri"/>
                  <a:ea typeface="Calibri"/>
                  <a:cs typeface="Calibri"/>
                  <a:sym typeface="Calibri"/>
                </a:rPr>
                <a:t>SPECULATIVE DECODING</a:t>
              </a:r>
              <a:endParaRPr b="1" sz="11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 txBox="1"/>
            <p:nvPr/>
          </p:nvSpPr>
          <p:spPr>
            <a:xfrm>
              <a:off x="3343275" y="1571625"/>
              <a:ext cx="2457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 small draft model guesses multiple tokens.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The large 8B target model verifies them in parallel.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FC3F7"/>
                  </a:solidFill>
                  <a:latin typeface="Calibri"/>
                  <a:ea typeface="Calibri"/>
                  <a:cs typeface="Calibri"/>
                  <a:sym typeface="Calibri"/>
                </a:rPr>
                <a:t>Accepted tokens = free speedup.</a:t>
              </a:r>
              <a:endParaRPr b="1" sz="11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6115050" y="1143000"/>
              <a:ext cx="2743200" cy="2381400"/>
            </a:xfrm>
            <a:prstGeom prst="roundRect">
              <a:avLst>
                <a:gd fmla="val 1600" name="adj"/>
              </a:avLst>
            </a:prstGeom>
            <a:solidFill>
              <a:srgbClr val="111111"/>
            </a:solidFill>
            <a:ln cap="flat" cmpd="sng" w="14300">
              <a:solidFill>
                <a:srgbClr val="C9A8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115050" y="1143000"/>
              <a:ext cx="2743200" cy="342900"/>
            </a:xfrm>
            <a:prstGeom prst="roundRect">
              <a:avLst>
                <a:gd fmla="val 11111" name="adj"/>
              </a:avLst>
            </a:prstGeom>
            <a:solidFill>
              <a:srgbClr val="201A0A"/>
            </a:solidFill>
            <a:ln cap="flat" cmpd="sng" w="9525">
              <a:solidFill>
                <a:srgbClr val="C9A8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 txBox="1"/>
            <p:nvPr/>
          </p:nvSpPr>
          <p:spPr>
            <a:xfrm>
              <a:off x="6115050" y="1143000"/>
              <a:ext cx="2743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WHY EAGLE-3?</a:t>
              </a:r>
              <a:endParaRPr b="1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 txBox="1"/>
            <p:nvPr/>
          </p:nvSpPr>
          <p:spPr>
            <a:xfrm>
              <a:off x="6257925" y="1571625"/>
              <a:ext cx="2457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Uses a lightweight feature-level head rather than a separate draft model.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Higher acceptance rates → more tokens per verification pass.</a:t>
              </a:r>
              <a:endPara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4"/>
          <p:cNvGrpSpPr/>
          <p:nvPr/>
        </p:nvGrpSpPr>
        <p:grpSpPr>
          <a:xfrm>
            <a:off x="280988" y="3709988"/>
            <a:ext cx="8582100" cy="1152600"/>
            <a:chOff x="280988" y="3709988"/>
            <a:chExt cx="8582100" cy="1152600"/>
          </a:xfrm>
        </p:grpSpPr>
        <p:pic>
          <p:nvPicPr>
            <p:cNvPr id="60" name="Google Shape;6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0988" y="3709988"/>
              <a:ext cx="8582100" cy="11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4"/>
            <p:cNvSpPr txBox="1"/>
            <p:nvPr/>
          </p:nvSpPr>
          <p:spPr>
            <a:xfrm>
              <a:off x="428625" y="3810000"/>
              <a:ext cx="1428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EAGLE-3</a:t>
              </a:r>
              <a:br>
                <a:rPr b="1" lang="en" sz="10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" sz="10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PIPELINE:</a:t>
              </a:r>
              <a:endParaRPr b="1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09750" y="4000500"/>
              <a:ext cx="1428900" cy="571500"/>
            </a:xfrm>
            <a:prstGeom prst="roundRect">
              <a:avLst>
                <a:gd fmla="val 6666" name="adj"/>
              </a:avLst>
            </a:prstGeom>
            <a:solidFill>
              <a:srgbClr val="0A1C24"/>
            </a:solidFill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 txBox="1"/>
            <p:nvPr/>
          </p:nvSpPr>
          <p:spPr>
            <a:xfrm>
              <a:off x="1809750" y="400050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FC3F7"/>
                  </a:solidFill>
                  <a:latin typeface="Calibri"/>
                  <a:ea typeface="Calibri"/>
                  <a:cs typeface="Calibri"/>
                  <a:sym typeface="Calibri"/>
                </a:rPr>
                <a:t>DRAFT TOKENS</a:t>
              </a:r>
              <a:endParaRPr b="1" sz="9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 txBox="1"/>
            <p:nvPr/>
          </p:nvSpPr>
          <p:spPr>
            <a:xfrm>
              <a:off x="3238500" y="4000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 b="0" sz="16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3524250" y="4000500"/>
              <a:ext cx="1428900" cy="571500"/>
            </a:xfrm>
            <a:prstGeom prst="roundRect">
              <a:avLst>
                <a:gd fmla="val 6666" name="adj"/>
              </a:avLst>
            </a:prstGeom>
            <a:solidFill>
              <a:srgbClr val="0A1F0A"/>
            </a:solidFill>
            <a:ln cap="flat" cmpd="sng" w="9525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 txBox="1"/>
            <p:nvPr/>
          </p:nvSpPr>
          <p:spPr>
            <a:xfrm>
              <a:off x="3524250" y="400050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CAF50"/>
                  </a:solidFill>
                  <a:latin typeface="Calibri"/>
                  <a:ea typeface="Calibri"/>
                  <a:cs typeface="Calibri"/>
                  <a:sym typeface="Calibri"/>
                </a:rPr>
                <a:t>VERIFY (8B)</a:t>
              </a:r>
              <a:endParaRPr b="1" sz="900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 txBox="1"/>
            <p:nvPr/>
          </p:nvSpPr>
          <p:spPr>
            <a:xfrm>
              <a:off x="4953000" y="4000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 b="0" sz="16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238750" y="4000500"/>
              <a:ext cx="1428900" cy="571500"/>
            </a:xfrm>
            <a:prstGeom prst="roundRect">
              <a:avLst>
                <a:gd fmla="val 6666" name="adj"/>
              </a:avLst>
            </a:prstGeom>
            <a:solidFill>
              <a:srgbClr val="201A0A"/>
            </a:solidFill>
            <a:ln cap="flat" cmpd="sng" w="9525">
              <a:solidFill>
                <a:srgbClr val="C9A8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 txBox="1"/>
            <p:nvPr/>
          </p:nvSpPr>
          <p:spPr>
            <a:xfrm>
              <a:off x="5238750" y="400050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ACCEPT</a:t>
              </a:r>
              <a:endParaRPr b="1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 txBox="1"/>
            <p:nvPr/>
          </p:nvSpPr>
          <p:spPr>
            <a:xfrm>
              <a:off x="6667500" y="4000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9A84C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 b="0" sz="16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953250" y="4000500"/>
              <a:ext cx="1428900" cy="571500"/>
            </a:xfrm>
            <a:prstGeom prst="roundRect">
              <a:avLst>
                <a:gd fmla="val 6666" name="adj"/>
              </a:avLst>
            </a:prstGeom>
            <a:solidFill>
              <a:srgbClr val="0A1F0A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 txBox="1"/>
            <p:nvPr/>
          </p:nvSpPr>
          <p:spPr>
            <a:xfrm>
              <a:off x="6953250" y="400050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CAF50"/>
                  </a:solidFill>
                  <a:latin typeface="Calibri"/>
                  <a:ea typeface="Calibri"/>
                  <a:cs typeface="Calibri"/>
                  <a:sym typeface="Calibri"/>
                </a:rPr>
                <a:t>SPEEDUP ACHIEVED</a:t>
              </a:r>
              <a:endParaRPr b="1" sz="1000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EXPERIMENTAL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RIGOROUS CROSS-PLATFORM MATRIX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4320" y="8503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 Tasks × 3 Hardware Tiers × 5 Concurrency Levels = 45 Total 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74320" y="1234440"/>
            <a:ext cx="2743200" cy="128016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84048" y="1298448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A100 (80GB)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84048" y="1645920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High-end cloud 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HBM2e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46120" y="1234440"/>
            <a:ext cx="2743200" cy="128016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355848" y="1298448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L4 (24GB)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355848" y="1645920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Cost-efficient cloud 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GDDR6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17920" y="1234440"/>
            <a:ext cx="2743200" cy="128016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327648" y="1298448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Mac (Unified Memory)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327648" y="1645920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Apple Silicon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memory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74320" y="2651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TARGET MODEL: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755648" y="26517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Llama-3.1-8B-Instruct (Greedy Decoding)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74320" y="2999232"/>
            <a:ext cx="2743200" cy="530352"/>
          </a:xfrm>
          <a:prstGeom prst="rect">
            <a:avLst/>
          </a:prstGeom>
          <a:solidFill>
            <a:srgbClr val="111111"/>
          </a:solidFill>
          <a:ln cap="flat" cmpd="sng" w="101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84048" y="30358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783080" y="30358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ShareGPT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246120" y="2999232"/>
            <a:ext cx="2743200" cy="530352"/>
          </a:xfrm>
          <a:prstGeom prst="rect">
            <a:avLst/>
          </a:prstGeom>
          <a:solidFill>
            <a:srgbClr val="111111"/>
          </a:solidFill>
          <a:ln cap="flat" cmpd="sng" w="101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355848" y="30358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754880" y="30358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HumanEval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217920" y="2999232"/>
            <a:ext cx="2743200" cy="530352"/>
          </a:xfrm>
          <a:prstGeom prst="rect">
            <a:avLst/>
          </a:prstGeom>
          <a:solidFill>
            <a:srgbClr val="111111"/>
          </a:solidFill>
          <a:ln cap="flat" cmpd="sng" w="1015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327648" y="30358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726680" y="30358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4320" y="36758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CONCURRENCY LEVELS: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286000" y="3639312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28600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108960" y="3639312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10896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931920" y="3639312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93192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54880" y="3639312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75488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577840" y="3639312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577840" y="3639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537960" y="376732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simultaneous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28600" y="4315968"/>
            <a:ext cx="8686800" cy="685800"/>
          </a:xfrm>
          <a:prstGeom prst="rect">
            <a:avLst/>
          </a:prstGeom>
          <a:solidFill>
            <a:srgbClr val="160808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43708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⚠  THE CONSTRAINT: L4 (24GB VRAM)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46268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Limited 24GB VRAM required strict sequential execution to prevent OOM crashes.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114800" y="442569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Baseline ~20GB  |  EAGLE-3 ~22GB  |  Sequential runner: Run → Kill → Clean VRAM → Next 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"GOTCHA" — DEBUGGING vLLM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UNCOVERING THE vLLM CHUNKING BUG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28600" y="960120"/>
            <a:ext cx="2834640" cy="306324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325880" y="1024128"/>
            <a:ext cx="640080" cy="64008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325880" y="10241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38328" y="1737360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THE SCARE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38325" y="2084827"/>
            <a:ext cx="26151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data showed EAGLE-3 was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slower than baseline.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Throughput: Baseline 100 TPS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EAGLE-3 72 TPS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38328" y="3657600"/>
            <a:ext cx="2615184" cy="256032"/>
          </a:xfrm>
          <a:prstGeom prst="rect">
            <a:avLst/>
          </a:prstGeom>
          <a:solidFill>
            <a:srgbClr val="2A0000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38328" y="3657600"/>
            <a:ext cx="2615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EAGLE-3 looked worse!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063240" y="2194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0" y="960120"/>
            <a:ext cx="2834640" cy="306324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297680" y="1024128"/>
            <a:ext cx="640080" cy="64008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297680" y="10241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310128" y="1737360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THE INVESTIGATION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310128" y="2084832"/>
            <a:ext cx="261518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logs: chars/chunk heavily skewed.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Baseline: 7.7 chars/chunk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EAGLE-3: 3.8 chars/chunk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vLLM batches multiple accepted tokens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into ONE SSE chunk — counting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chunks undercounted EAGLE-3 by ~2×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035040" y="2194560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172200" y="960120"/>
            <a:ext cx="2834640" cy="306324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269480" y="1024128"/>
            <a:ext cx="640080" cy="64008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269480" y="10241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81928" y="1737360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THE FIX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81928" y="2084832"/>
            <a:ext cx="261518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81928" y="3657600"/>
            <a:ext cx="2615184" cy="256032"/>
          </a:xfrm>
          <a:prstGeom prst="rect">
            <a:avLst/>
          </a:prstGeom>
          <a:solidFill>
            <a:srgbClr val="002A00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281928" y="3657600"/>
            <a:ext cx="2615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Correct metrics. Experiment saved.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28600" y="4133088"/>
            <a:ext cx="8686800" cy="868680"/>
          </a:xfrm>
          <a:prstGeom prst="rect">
            <a:avLst/>
          </a:prstGeom>
          <a:solidFill>
            <a:srgbClr val="0A150A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42062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AFTER THE FIX: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57200" y="44805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Throughput 2×–3× higher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560320" y="44805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True speedup revealed (not 0.5×)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663440" y="44805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Data integrity restored with server 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766560" y="44805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Results we can trust and publish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 title="Screenshot 2026-04-29 at 4.43.01 PM.png"/>
          <p:cNvPicPr preferRelativeResize="0"/>
          <p:nvPr/>
        </p:nvPicPr>
        <p:blipFill rotWithShape="1">
          <a:blip r:embed="rId3">
            <a:alphaModFix/>
          </a:blip>
          <a:srcRect b="15161" l="0" r="0" t="0"/>
          <a:stretch/>
        </p:blipFill>
        <p:spPr>
          <a:xfrm>
            <a:off x="6410850" y="2095437"/>
            <a:ext cx="2357349" cy="152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THROUGHPUT &amp; SPEEDUP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74320" y="29260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EAGLE-3 IS AN UNCONDITIONAL WIN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Speedup Heatmap: EAGLE-3 TPS ÷ Baseline TPS  |  All values &gt; 1.0 = EAGLE-3 wins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28600" y="1143000"/>
            <a:ext cx="4069080" cy="347472"/>
          </a:xfrm>
          <a:prstGeom prst="rect">
            <a:avLst/>
          </a:prstGeom>
          <a:solidFill>
            <a:srgbClr val="0A1F0A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28600" y="114300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A100 (80GB)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28600" y="1490472"/>
            <a:ext cx="1417320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28600" y="149047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645920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645920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176272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176272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706624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706624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36976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236976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767328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767328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28600" y="1783080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274320" y="17830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(ShareGPT)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645920" y="1783080"/>
            <a:ext cx="530352" cy="475488"/>
          </a:xfrm>
          <a:prstGeom prst="rect">
            <a:avLst/>
          </a:prstGeom>
          <a:solidFill>
            <a:srgbClr val="F57F1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645920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1.31×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176272" y="1783080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2176272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1.50×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706624" y="1783080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706624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1.98×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236976" y="1783080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236976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1.79×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767328" y="1783080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767328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1.59×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28600" y="2258568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74320" y="2258568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Code (HumanEval)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645920" y="2258568"/>
            <a:ext cx="530352" cy="475488"/>
          </a:xfrm>
          <a:prstGeom prst="rect">
            <a:avLst/>
          </a:prstGeom>
          <a:solidFill>
            <a:srgbClr val="1B5E2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645920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2.87×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176272" y="2258568"/>
            <a:ext cx="530352" cy="475488"/>
          </a:xfrm>
          <a:prstGeom prst="rect">
            <a:avLst/>
          </a:prstGeom>
          <a:solidFill>
            <a:srgbClr val="1B5E2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2176272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2.67×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706624" y="2258568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2706624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2.38×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236976" y="2258568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36976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2.13×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767328" y="2258568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67328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1.80×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28600" y="2734056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" y="2734056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Summarization (CNN)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645920" y="2734056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1645920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2.33×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176272" y="2734056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176272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1.88×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706624" y="2734056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706624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1.77×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236976" y="2734056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3236976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1.55×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767328" y="2734056"/>
            <a:ext cx="530352" cy="475488"/>
          </a:xfrm>
          <a:prstGeom prst="rect">
            <a:avLst/>
          </a:prstGeom>
          <a:solidFill>
            <a:srgbClr val="F57F1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767328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1.33×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663440" y="1143000"/>
            <a:ext cx="4069080" cy="347472"/>
          </a:xfrm>
          <a:prstGeom prst="rect">
            <a:avLst/>
          </a:prstGeom>
          <a:solidFill>
            <a:srgbClr val="00152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663440" y="114300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L4 (24GB)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663440" y="1490472"/>
            <a:ext cx="1417320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663440" y="149047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080760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080760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611112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611112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141464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7141464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671816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7671816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202168" y="1490472"/>
            <a:ext cx="530352" cy="29260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202168" y="1490472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c=32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663440" y="1783080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709160" y="17830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(ShareGPT)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080760" y="1783080"/>
            <a:ext cx="530352" cy="475488"/>
          </a:xfrm>
          <a:prstGeom prst="rect">
            <a:avLst/>
          </a:prstGeom>
          <a:solidFill>
            <a:srgbClr val="F57F1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080760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1.20×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611112" y="1783080"/>
            <a:ext cx="530352" cy="475488"/>
          </a:xfrm>
          <a:prstGeom prst="rect">
            <a:avLst/>
          </a:prstGeom>
          <a:solidFill>
            <a:srgbClr val="F57F1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611112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1.36×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141464" y="1783080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141464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1.61×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671816" y="1783080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671816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1.59×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202168" y="1783080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8202168" y="1783080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1.43×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663440" y="2258568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709160" y="2258568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Code (HumanEval)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080760" y="2258568"/>
            <a:ext cx="530352" cy="475488"/>
          </a:xfrm>
          <a:prstGeom prst="rect">
            <a:avLst/>
          </a:prstGeom>
          <a:solidFill>
            <a:srgbClr val="1B5E2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080760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2.91×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611112" y="2258568"/>
            <a:ext cx="530352" cy="475488"/>
          </a:xfrm>
          <a:prstGeom prst="rect">
            <a:avLst/>
          </a:prstGeom>
          <a:solidFill>
            <a:srgbClr val="1B5E2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611112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2.73×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141464" y="2258568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141464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2.44×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671816" y="2258568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7671816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2.12×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202168" y="2258568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8202168" y="2258568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1.74×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663440" y="2734056"/>
            <a:ext cx="1417320" cy="47548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709160" y="2734056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Summarization (CNN)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080760" y="2734056"/>
            <a:ext cx="530352" cy="47548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080760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2.27×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611112" y="2734056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611112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1.96×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141464" y="2734056"/>
            <a:ext cx="530352" cy="475488"/>
          </a:xfrm>
          <a:prstGeom prst="rect">
            <a:avLst/>
          </a:prstGeom>
          <a:solidFill>
            <a:srgbClr val="558B2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7141464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1.81×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671816" y="2734056"/>
            <a:ext cx="530352" cy="475488"/>
          </a:xfrm>
          <a:prstGeom prst="rect">
            <a:avLst/>
          </a:prstGeom>
          <a:solidFill>
            <a:srgbClr val="9E9D2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671816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1.61×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202168" y="2734056"/>
            <a:ext cx="530352" cy="475488"/>
          </a:xfrm>
          <a:prstGeom prst="rect">
            <a:avLst/>
          </a:prstGeom>
          <a:solidFill>
            <a:srgbClr val="F57F1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8202168" y="2734056"/>
            <a:ext cx="530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1.28×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28600" y="4041648"/>
            <a:ext cx="8686800" cy="731520"/>
          </a:xfrm>
          <a:prstGeom prst="rect">
            <a:avLst/>
          </a:prstGeom>
          <a:solidFill>
            <a:srgbClr val="0A150A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57200" y="4133088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 Peak: Code @ c=1 on L4 = 2.91×  |  Minimum: Chat @ c=1 on L4 = 1.20×  |  No crossover observed at any concurrency level — EAGLE-3 always wins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>
            <a:off x="274327" y="91450"/>
            <a:ext cx="49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THROUGHPUT DEEP DIVE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74320" y="29260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TOKENS PER SECOND: EAGLE-3 vs BASELINE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8" title="5b.png"/>
          <p:cNvPicPr preferRelativeResize="0"/>
          <p:nvPr/>
        </p:nvPicPr>
        <p:blipFill rotWithShape="1">
          <a:blip r:embed="rId3">
            <a:alphaModFix/>
          </a:blip>
          <a:srcRect b="3142" l="-2099" r="18466" t="6833"/>
          <a:stretch/>
        </p:blipFill>
        <p:spPr>
          <a:xfrm>
            <a:off x="585225" y="383850"/>
            <a:ext cx="7485076" cy="453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TASK VARIABILITY &amp; ACCEPTANCE RATES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74320" y="292608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WHY DOES ACCEPTANCE RATE CHANGE WITH CONCURRENCY?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9" title="Screenshot 2026-04-29 at 4.46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1347708"/>
            <a:ext cx="8839198" cy="298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TTFT TRADE-OFF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74320" y="29260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DOES THE OVERHEAD MATTER?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TTFT (Time-to-First-Token) on A100 Across Concurrency Levels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715000" y="1115568"/>
            <a:ext cx="3246120" cy="91440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806440" y="1252728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5806440" y="1252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400800" y="11887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AT c=1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400800" y="148132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TTFT overhead is minimal.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Code: 28ms → 36ms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715000" y="2139696"/>
            <a:ext cx="3246120" cy="91440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5806440" y="2276856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806440" y="22768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400800" y="221284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THE BUBBLE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400800" y="2505456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c=4 (Chat), TTFT spikes 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914ms — ~19× overhead due 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batching delays.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715000" y="3163824"/>
            <a:ext cx="3246120" cy="914400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5806440" y="3300984"/>
            <a:ext cx="502920" cy="502920"/>
          </a:xfrm>
          <a:prstGeom prst="ellipse">
            <a:avLst/>
          </a:prstGeom>
          <a:solidFill>
            <a:srgbClr val="1A1400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806440" y="3300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400800" y="32369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THE RECOVERY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400800" y="3529584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c=8, the gap vanishes again.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103ms vs 106ms — essentially equal.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715000" y="4133098"/>
            <a:ext cx="3246000" cy="868800"/>
          </a:xfrm>
          <a:prstGeom prst="rect">
            <a:avLst/>
          </a:prstGeom>
          <a:solidFill>
            <a:srgbClr val="1A140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5852160" y="420625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852160" y="4443994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TPOT (generation speed) always improves, but initial TTFT has a scheduling bubble at low-medium concurrency.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28600" y="4343400"/>
            <a:ext cx="5303520" cy="658368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57200" y="43891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TTFT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914400" y="437083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Time to First Token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(user-perceived latency)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194560" y="43891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TPOT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651760" y="437083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Time Per Output Token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(generation speed)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931920" y="43891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389120" y="437083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Total Experience: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Overhead vs sustained faster generation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10" title="Screenshot 2026-04-29 at 4.47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3104"/>
            <a:ext cx="5289683" cy="297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COST-PERFORMANCE FRONTIER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4320" y="29260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CLOUD ECONOMICS: 50% CHEAPER COMPUTE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EAGLE-3 delivers 2–3× higher throughput → 40–50% lower cost per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925800" y="1506588"/>
            <a:ext cx="2787000" cy="1363500"/>
          </a:xfrm>
          <a:prstGeom prst="rect">
            <a:avLst/>
          </a:prstGeom>
          <a:solidFill>
            <a:srgbClr val="1A1400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035820" y="1615663"/>
            <a:ext cx="2567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★  THE SWEET SPOT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035820" y="1997425"/>
            <a:ext cx="2567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 + EAGLE-3 matches A100 Baseline throughput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(~90 vs ~87 TPS) at 66% lower cost ($0.00287 → $0.00098).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925800" y="3224525"/>
            <a:ext cx="2787000" cy="882600"/>
          </a:xfrm>
          <a:prstGeom prst="rect">
            <a:avLst/>
          </a:prstGeom>
          <a:solidFill>
            <a:srgbClr val="0A150A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052473" y="3332187"/>
            <a:ext cx="2584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2–3× faster → less GPU time → lower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Maximum performance at minimum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1" title="Screenshot 2026-04-29 at 4.5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2" y="1391074"/>
            <a:ext cx="5540450" cy="303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APPLE SILICON REALITY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74320" y="29260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EDGE CASE: MAC MLX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274320" y="82296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Speculative decoding on Apple Silicon is a single-user win, but a multi-user failure.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715000" y="868680"/>
            <a:ext cx="3246120" cy="1170432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5806440" y="1033272"/>
            <a:ext cx="457200" cy="457200"/>
          </a:xfrm>
          <a:prstGeom prst="ellipse">
            <a:avLst/>
          </a:prstGeom>
          <a:solidFill>
            <a:srgbClr val="1A1400"/>
          </a:solidFill>
          <a:ln cap="flat" cmpd="sng" w="152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5806440" y="1033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355080" y="960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SINGLE-USER SUCCESS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355080" y="127101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Genuine 1.19×–1.53× speedup at c=1.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 local, single-user agents.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715000" y="2194560"/>
            <a:ext cx="3246120" cy="1170432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5806440" y="2359152"/>
            <a:ext cx="457200" cy="457200"/>
          </a:xfrm>
          <a:prstGeom prst="ellipse">
            <a:avLst/>
          </a:prstGeom>
          <a:solidFill>
            <a:srgbClr val="1A1400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5806440" y="23591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355080" y="22860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MULTI-USER CATASTROPHE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355080" y="259689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Regressions across all tasks at c≥4.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 drops below baseline.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5715000" y="3520440"/>
            <a:ext cx="3246120" cy="1170432"/>
          </a:xfrm>
          <a:prstGeom prst="rect">
            <a:avLst/>
          </a:prstGeom>
          <a:solidFill>
            <a:srgbClr val="111111"/>
          </a:solidFill>
          <a:ln cap="flat" cmpd="sng" w="152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5806440" y="3685032"/>
            <a:ext cx="457200" cy="457200"/>
          </a:xfrm>
          <a:prstGeom prst="ellipse">
            <a:avLst/>
          </a:prstGeom>
          <a:solidFill>
            <a:srgbClr val="1A1400"/>
          </a:solidFill>
          <a:ln cap="flat" cmpd="sng" w="152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5806440" y="3685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355080" y="3611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9800"/>
                </a:solidFill>
                <a:latin typeface="Calibri"/>
                <a:ea typeface="Calibri"/>
                <a:cs typeface="Calibri"/>
                <a:sym typeface="Calibri"/>
              </a:rPr>
              <a:t>THE UNFAIRNESS 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355080" y="3922776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c=32, CV = 188% (Extremely Unfair).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Fastest 10%: 150ms  vs  Slowest 10%: 45,000ms (45 sec!)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205738" y="3936598"/>
            <a:ext cx="5303400" cy="749700"/>
          </a:xfrm>
          <a:prstGeom prst="rect">
            <a:avLst/>
          </a:prstGeom>
          <a:solidFill>
            <a:srgbClr val="160808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34338" y="4055470"/>
            <a:ext cx="498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Mac MLX is best for single-user workloads. Under concurrency, it becomes unpredictable and unusable.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2" title="Screenshot 2026-04-29 at 4.56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1392"/>
            <a:ext cx="5410201" cy="226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274320" y="9144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ARCHITECTURE INSIGHT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274320" y="29260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DID THE MAC FAIL? SCHEDULING VS. ALGORITHMS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74320" y="804672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difference is in how speculative decoding work is scheduled across concurrent requests.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28600" y="1097275"/>
            <a:ext cx="4160400" cy="3472200"/>
          </a:xfrm>
          <a:prstGeom prst="rect">
            <a:avLst/>
          </a:prstGeom>
          <a:solidFill>
            <a:srgbClr val="0A1A0A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65760" y="11704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✓  vLLM (CLOUD GPUs): CONTINUOUS BATCHING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365760" y="14630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Batches speculative decoding across requests → Stable at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65760" y="1783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50" y="1993400"/>
            <a:ext cx="14718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requests are batched together for both draft and verify passes. GPU stays busy.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2377440" y="1810512"/>
            <a:ext cx="292608" cy="201168"/>
          </a:xfrm>
          <a:prstGeom prst="rect">
            <a:avLst/>
          </a:prstGeom>
          <a:solidFill>
            <a:srgbClr val="1A1400"/>
          </a:solidFill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2377440" y="1810512"/>
            <a:ext cx="29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697480" y="1810512"/>
            <a:ext cx="292608" cy="201168"/>
          </a:xfrm>
          <a:prstGeom prst="rect">
            <a:avLst/>
          </a:prstGeom>
          <a:solidFill>
            <a:srgbClr val="1A1400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2697480" y="1810512"/>
            <a:ext cx="29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017520" y="1810512"/>
            <a:ext cx="292608" cy="201168"/>
          </a:xfrm>
          <a:prstGeom prst="rect">
            <a:avLst/>
          </a:prstGeom>
          <a:solidFill>
            <a:srgbClr val="1A140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3017520" y="1810512"/>
            <a:ext cx="29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3337560" y="1810512"/>
            <a:ext cx="292608" cy="201168"/>
          </a:xfrm>
          <a:prstGeom prst="rect">
            <a:avLst/>
          </a:prstGeom>
          <a:solidFill>
            <a:srgbClr val="1A1400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3337560" y="1810512"/>
            <a:ext cx="29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3657600" y="1810512"/>
            <a:ext cx="292608" cy="201168"/>
          </a:xfrm>
          <a:prstGeom prst="rect">
            <a:avLst/>
          </a:prstGeom>
          <a:solidFill>
            <a:srgbClr val="1A1400"/>
          </a:solidFill>
          <a:ln cap="flat" cmpd="sng" w="9525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3657600" y="1810512"/>
            <a:ext cx="29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3291840" y="2029968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2377440" y="2249424"/>
            <a:ext cx="1600200" cy="292608"/>
          </a:xfrm>
          <a:prstGeom prst="rect">
            <a:avLst/>
          </a:prstGeom>
          <a:solidFill>
            <a:srgbClr val="0D200D"/>
          </a:solidFill>
          <a:ln cap="flat" cmpd="sng" w="101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2377440" y="224942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DRAFT (EAGLE-3) — Batched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291840" y="25603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2377440" y="2761488"/>
            <a:ext cx="1600200" cy="292608"/>
          </a:xfrm>
          <a:prstGeom prst="rect">
            <a:avLst/>
          </a:prstGeom>
          <a:solidFill>
            <a:srgbClr val="0D200D"/>
          </a:solidFill>
          <a:ln cap="flat" cmpd="sng" w="101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2377440" y="276148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VERIFY (Llama-3.1-8B) — Batched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365760" y="31821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RESULT 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365760" y="340156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High GPU utilization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65760" y="3675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Stable TTFT &amp; TPOT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365760" y="395020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No queue explosion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365760" y="422452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Scales to 32+ users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4572000" y="1097275"/>
            <a:ext cx="4343400" cy="3472200"/>
          </a:xfrm>
          <a:prstGeom prst="rect">
            <a:avLst/>
          </a:prstGeom>
          <a:solidFill>
            <a:srgbClr val="1A0A0A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4709160" y="117043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✕  MLX (MAC): SERIAL SPECULATIVE PASSES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4709160" y="14630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Processes speculative passes serially → Queue depth explodes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709160" y="1783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709160" y="199339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request runs its entire draft+verify cycle before the next request begins. No cross-request batching.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6720840" y="1874520"/>
            <a:ext cx="1691640" cy="347472"/>
          </a:xfrm>
          <a:prstGeom prst="rect">
            <a:avLst/>
          </a:prstGeom>
          <a:solidFill>
            <a:srgbClr val="200A0A"/>
          </a:solidFill>
          <a:ln cap="flat" cmpd="sng" w="101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6720840" y="1874520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DRAFT+VERIFY — Req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7452360" y="2221992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720840" y="2350008"/>
            <a:ext cx="1691640" cy="347472"/>
          </a:xfrm>
          <a:prstGeom prst="rect">
            <a:avLst/>
          </a:prstGeom>
          <a:solidFill>
            <a:srgbClr val="200A0A"/>
          </a:solidFill>
          <a:ln cap="flat" cmpd="sng" w="101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6720840" y="235000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DRAFT+VERIFY — Req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7452360" y="269748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720840" y="2825496"/>
            <a:ext cx="1691640" cy="347472"/>
          </a:xfrm>
          <a:prstGeom prst="rect">
            <a:avLst/>
          </a:prstGeom>
          <a:solidFill>
            <a:srgbClr val="200A0A"/>
          </a:solidFill>
          <a:ln cap="flat" cmpd="sng" w="101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720840" y="2825496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DRAFT+VERIFY — Req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7452360" y="31729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720840" y="3300984"/>
            <a:ext cx="1691640" cy="347472"/>
          </a:xfrm>
          <a:prstGeom prst="rect">
            <a:avLst/>
          </a:prstGeom>
          <a:solidFill>
            <a:srgbClr val="200A0A"/>
          </a:solidFill>
          <a:ln cap="flat" cmpd="sng" w="101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720840" y="3300984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DRAFT+VERIFY — Req 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709160" y="31821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RESULT 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709160" y="340156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Low GPU utilization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4709160" y="36758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TTFT becomes huge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709160" y="39502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Massive queue buildup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709160" y="422452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Regressions at c≥4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228600" y="4690884"/>
            <a:ext cx="8686800" cy="3474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7" name="Google Shape;417;p13" title="Screenshot 2026-04-29 at 4.57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750" y="1783988"/>
            <a:ext cx="2010044" cy="16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3" title="Screenshot 2026-04-29 at 4.59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500" y="1837950"/>
            <a:ext cx="2286000" cy="1880778"/>
          </a:xfrm>
          <a:prstGeom prst="rect">
            <a:avLst/>
          </a:prstGeom>
          <a:solidFill>
            <a:srgbClr val="0A1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</p:pic>
      <p:sp>
        <p:nvSpPr>
          <p:cNvPr id="419" name="Google Shape;419;p13"/>
          <p:cNvSpPr/>
          <p:nvPr/>
        </p:nvSpPr>
        <p:spPr>
          <a:xfrm>
            <a:off x="469508" y="4599425"/>
            <a:ext cx="820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Mac regressions are an architectural scheduling failure, not a failure of speculative decoding theory.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/>
          <p:nvPr/>
        </p:nvSpPr>
        <p:spPr>
          <a:xfrm>
            <a:off x="274320" y="914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658368" y="1188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CONCLUSIONS &amp; RECOMMENDATIONS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274320" y="29260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Actionable conclusions from our rigorous experimentation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228600" y="1143000"/>
            <a:ext cx="2834700" cy="3376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338328" y="1207008"/>
            <a:ext cx="411480" cy="41148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338328" y="12070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22960" y="12344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CLOUD GPUs (A100 / L4)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14"/>
          <p:cNvCxnSpPr/>
          <p:nvPr/>
        </p:nvCxnSpPr>
        <p:spPr>
          <a:xfrm>
            <a:off x="338328" y="1664208"/>
            <a:ext cx="2615184" cy="0"/>
          </a:xfrm>
          <a:prstGeom prst="straightConnector1">
            <a:avLst/>
          </a:prstGeom>
          <a:noFill/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4"/>
          <p:cNvSpPr/>
          <p:nvPr/>
        </p:nvSpPr>
        <p:spPr>
          <a:xfrm>
            <a:off x="338328" y="1737360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EAGLE-3 is an unconditional win.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by default in production.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338328" y="22128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2×–3× higher throughput across all tasks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338328" y="2596896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 to 2.91× speedup (Code, L4, c=1)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38328" y="298094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40–50% lower cost per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338328" y="3364992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crossover even at 32 concurrent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338328" y="3767328"/>
            <a:ext cx="2615184" cy="566928"/>
          </a:xfrm>
          <a:prstGeom prst="rect">
            <a:avLst/>
          </a:prstGeom>
          <a:solidFill>
            <a:srgbClr val="0A200A"/>
          </a:solidFill>
          <a:ln cap="flat" cmpd="sng" w="101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338328" y="3767328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TURN IT ON. LEAVE IT 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It's strictly better.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3200400" y="1143000"/>
            <a:ext cx="2834700" cy="3376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3310128" y="1207008"/>
            <a:ext cx="411480" cy="41148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3310128" y="12070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3794760" y="12344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CODE GENERATION: BEST USE-CASE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4"/>
          <p:cNvCxnSpPr/>
          <p:nvPr/>
        </p:nvCxnSpPr>
        <p:spPr>
          <a:xfrm>
            <a:off x="3310128" y="1664208"/>
            <a:ext cx="2615184" cy="0"/>
          </a:xfrm>
          <a:prstGeom prst="straightConnector1">
            <a:avLst/>
          </a:prstGeom>
          <a:noFill/>
          <a:ln cap="flat" cmpd="sng" w="952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4"/>
          <p:cNvSpPr/>
          <p:nvPr/>
        </p:nvSpPr>
        <p:spPr>
          <a:xfrm>
            <a:off x="3310128" y="1737360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Consistently delivers the highest gains.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310128" y="22128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 2.9× speedup on L4 at c=1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3310128" y="2596896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 acceptance rates (42% → 50%)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3310128" y="298094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structured outputs = more predictable speculation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3310128" y="3364992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place for throughput, cost, and user experience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3310128" y="3767328"/>
            <a:ext cx="2615184" cy="566928"/>
          </a:xfrm>
          <a:prstGeom prst="rect">
            <a:avLst/>
          </a:prstGeom>
          <a:solidFill>
            <a:srgbClr val="001A2A"/>
          </a:solidFill>
          <a:ln cap="flat" cmpd="sng" w="101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3310128" y="3767328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IF YOU WRITE CODE,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YOU WIN BIG WITH EAGLE-3.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6172200" y="1143000"/>
            <a:ext cx="2834700" cy="3376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6281928" y="1207008"/>
            <a:ext cx="411480" cy="411480"/>
          </a:xfrm>
          <a:prstGeom prst="ellipse">
            <a:avLst/>
          </a:prstGeom>
          <a:solidFill>
            <a:srgbClr val="1A1400"/>
          </a:solidFill>
          <a:ln cap="flat" cmpd="sng" w="1270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281928" y="12070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6766560" y="12344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EDGE DEPLOYMENTS (MAC MLX)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14"/>
          <p:cNvCxnSpPr/>
          <p:nvPr/>
        </p:nvCxnSpPr>
        <p:spPr>
          <a:xfrm>
            <a:off x="6281928" y="1664208"/>
            <a:ext cx="2615184" cy="0"/>
          </a:xfrm>
          <a:prstGeom prst="straightConnector1">
            <a:avLst/>
          </a:prstGeom>
          <a:noFill/>
          <a:ln cap="flat" cmpd="sng" w="9525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14"/>
          <p:cNvSpPr/>
          <p:nvPr/>
        </p:nvSpPr>
        <p:spPr>
          <a:xfrm>
            <a:off x="6281928" y="1737360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a single-user tool right now.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6281928" y="2212848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at c=1 (1.19×–1.53× speedup)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6281928" y="2596896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Collapses at c≥4 across all tasks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6281928" y="2980944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Extreme unfairness at c=32 (CV 188%)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281928" y="3364992"/>
            <a:ext cx="26151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Architectural scheduling bottleneck in MLX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6281928" y="3767328"/>
            <a:ext cx="2615184" cy="566928"/>
          </a:xfrm>
          <a:prstGeom prst="rect">
            <a:avLst/>
          </a:prstGeom>
          <a:solidFill>
            <a:srgbClr val="1A0A20"/>
          </a:solidFill>
          <a:ln cap="flat" cmpd="sng" w="1015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281928" y="3767328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USE FOR LOCAL, SINGLE-USER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AGENTS 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4" title="Screenshot 2026-04-29 at 5.03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488" y="4558566"/>
            <a:ext cx="6949015" cy="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