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  <p:embeddedFont>
      <p:font typeface="Merriweather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05EBAA-17DA-4C89-B833-126CB19C52F5}">
  <a:tblStyle styleId="{9505EBAA-17DA-4C89-B833-126CB19C52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35" Type="http://schemas.openxmlformats.org/officeDocument/2006/relationships/font" Target="fonts/Merriweather-regular.fntdata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37" Type="http://schemas.openxmlformats.org/officeDocument/2006/relationships/font" Target="fonts/Merriweather-italic.fntdata"/><Relationship Id="rId14" Type="http://schemas.openxmlformats.org/officeDocument/2006/relationships/slide" Target="slides/slide8.xml"/><Relationship Id="rId36" Type="http://schemas.openxmlformats.org/officeDocument/2006/relationships/font" Target="fonts/Merriweather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Merriweather-bold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abaf16728_2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g3dabaf16728_2_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dabaf16728_2_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abaf16728_2_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g3dabaf16728_2_2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g3dabaf16728_2_2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abaf16728_2_4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g3dabaf16728_2_4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dabaf16728_2_4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abaf16728_2_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dabaf16728_2_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dabaf16728_2_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abaf16728_2_11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g3dabaf16728_2_11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dabaf16728_2_11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abaf16728_2_15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g3dabaf16728_2_15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g3dabaf16728_2_15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abaf16728_2_18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g3dabaf16728_2_18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dabaf16728_2_18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dabaf16728_2_19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g3dabaf16728_2_19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dabaf16728_2_19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dabaf16728_2_22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g3dabaf16728_2_22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g3dabaf16728_2_22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abaf16728_2_25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dabaf16728_2_25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dabaf16728_2_25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abaf16728_2_27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g3dabaf16728_2_27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dabaf16728_2_27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abaf16728_2_29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g3dabaf16728_2_29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dabaf16728_2_29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dabaf16728_2_33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g3dabaf16728_2_33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g3dabaf16728_2_33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dabaf16728_2_34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g3dabaf16728_2_34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g3dabaf16728_2_34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dabaf16728_2_35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dabaf16728_2_35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g3dabaf16728_2_35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dabaf16728_2_39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1" name="Google Shape;461;g3dabaf16728_2_39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g3dabaf16728_2_39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dabaf16728_2_40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g3dabaf16728_2_40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g3dabaf16728_2_40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dabaf16728_2_42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g3dabaf16728_2_42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g3dabaf16728_2_42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abaf16728_2_42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g3dabaf16728_2_42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g3dabaf16728_2_42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dabaf16728_2_43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3" name="Google Shape;513;g3dabaf16728_2_43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g3dabaf16728_2_43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dabaf16728_2_46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5" name="Google Shape;535;g3dabaf16728_2_46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g3dabaf16728_2_46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dabaf16728_2_47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g3dabaf16728_2_47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g3dabaf16728_2_47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3dabaf16728_2_4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g3dabaf16728_2_4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dabaf16728_2_4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dabaf16728_2_49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9" name="Google Shape;569;g3dabaf16728_2_49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g3dabaf16728_2_49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14"/>
          <p:cNvGrpSpPr/>
          <p:nvPr/>
        </p:nvGrpSpPr>
        <p:grpSpPr>
          <a:xfrm>
            <a:off x="381000" y="762000"/>
            <a:ext cx="8382000" cy="1143000"/>
            <a:chOff x="381000" y="762000"/>
            <a:chExt cx="8382000" cy="1143000"/>
          </a:xfrm>
        </p:grpSpPr>
        <p:sp>
          <p:nvSpPr>
            <p:cNvPr id="67" name="Google Shape;67;p14"/>
            <p:cNvSpPr/>
            <p:nvPr/>
          </p:nvSpPr>
          <p:spPr>
            <a:xfrm>
              <a:off x="381000" y="762000"/>
              <a:ext cx="83820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381000" y="762000"/>
              <a:ext cx="8382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481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EAGLE-3 Speculative Decoding</a:t>
              </a:r>
              <a:endParaRPr b="1" sz="481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850">
                  <a:solidFill>
                    <a:srgbClr val="4B8EBC"/>
                  </a:solidFill>
                  <a:latin typeface="Calibri"/>
                  <a:ea typeface="Calibri"/>
                  <a:cs typeface="Calibri"/>
                  <a:sym typeface="Calibri"/>
                </a:rPr>
                <a:t>Performance Characterization Across Hardware</a:t>
              </a:r>
              <a:endParaRPr b="0" sz="1850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69" name="Google Shape;69;p14"/>
          <p:cNvCxnSpPr/>
          <p:nvPr/>
        </p:nvCxnSpPr>
        <p:spPr>
          <a:xfrm>
            <a:off x="381000" y="2095500"/>
            <a:ext cx="1524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4B8EBC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0" name="Google Shape;70;p14"/>
          <p:cNvGrpSpPr/>
          <p:nvPr/>
        </p:nvGrpSpPr>
        <p:grpSpPr>
          <a:xfrm>
            <a:off x="381000" y="3619500"/>
            <a:ext cx="8382000" cy="571500"/>
            <a:chOff x="381000" y="3619500"/>
            <a:chExt cx="8382000" cy="571500"/>
          </a:xfrm>
        </p:grpSpPr>
        <p:sp>
          <p:nvSpPr>
            <p:cNvPr id="71" name="Google Shape;71;p14"/>
            <p:cNvSpPr/>
            <p:nvPr/>
          </p:nvSpPr>
          <p:spPr>
            <a:xfrm>
              <a:off x="381000" y="3619500"/>
              <a:ext cx="83820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4"/>
            <p:cNvSpPr txBox="1"/>
            <p:nvPr/>
          </p:nvSpPr>
          <p:spPr>
            <a:xfrm>
              <a:off x="381000" y="361950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Aaryaman Bajaj · Shreya Banga · Himanshu Jhawar · Rajvardhan Patil</a:t>
              </a:r>
              <a:endParaRPr b="0" sz="14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" name="Google Shape;73;p14"/>
          <p:cNvGrpSpPr/>
          <p:nvPr/>
        </p:nvGrpSpPr>
        <p:grpSpPr>
          <a:xfrm>
            <a:off x="381000" y="4381500"/>
            <a:ext cx="8382000" cy="381000"/>
            <a:chOff x="381000" y="4381500"/>
            <a:chExt cx="8382000" cy="381000"/>
          </a:xfrm>
        </p:grpSpPr>
        <p:sp>
          <p:nvSpPr>
            <p:cNvPr id="74" name="Google Shape;74;p14"/>
            <p:cNvSpPr/>
            <p:nvPr/>
          </p:nvSpPr>
          <p:spPr>
            <a:xfrm>
              <a:off x="381000" y="4381500"/>
              <a:ext cx="8382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4"/>
            <p:cNvSpPr txBox="1"/>
            <p:nvPr/>
          </p:nvSpPr>
          <p:spPr>
            <a:xfrm>
              <a:off x="381000" y="4381500"/>
              <a:ext cx="838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6B7480"/>
                  </a:solidFill>
                  <a:latin typeface="Calibri"/>
                  <a:ea typeface="Calibri"/>
                  <a:cs typeface="Calibri"/>
                  <a:sym typeface="Calibri"/>
                </a:rPr>
                <a:t>COMS E6998 · Applied ML in the Cloud · Columbia University</a:t>
              </a:r>
              <a:endParaRPr sz="1100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81;p15"/>
          <p:cNvGrpSpPr/>
          <p:nvPr/>
        </p:nvGrpSpPr>
        <p:grpSpPr>
          <a:xfrm>
            <a:off x="381000" y="285750"/>
            <a:ext cx="8382000" cy="619125"/>
            <a:chOff x="381000" y="285750"/>
            <a:chExt cx="8382000" cy="619125"/>
          </a:xfrm>
        </p:grpSpPr>
        <p:sp>
          <p:nvSpPr>
            <p:cNvPr id="82" name="Google Shape;82;p15"/>
            <p:cNvSpPr txBox="1"/>
            <p:nvPr/>
          </p:nvSpPr>
          <p:spPr>
            <a:xfrm>
              <a:off x="381000" y="28575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32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How Speculative Decoding Works</a:t>
              </a:r>
              <a:endParaRPr b="1" sz="32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83" name="Google Shape;83;p15"/>
            <p:cNvCxnSpPr/>
            <p:nvPr/>
          </p:nvCxnSpPr>
          <p:spPr>
            <a:xfrm>
              <a:off x="381000" y="904875"/>
              <a:ext cx="1905000" cy="0"/>
            </a:xfrm>
            <a:prstGeom prst="straightConnector1">
              <a:avLst/>
            </a:prstGeom>
            <a:solidFill>
              <a:srgbClr val="FFFFFF"/>
            </a:solidFill>
            <a:ln cap="flat" cmpd="sng" w="38100">
              <a:solidFill>
                <a:srgbClr val="4B8EBC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84" name="Google Shape;84;p15"/>
          <p:cNvGrpSpPr/>
          <p:nvPr/>
        </p:nvGrpSpPr>
        <p:grpSpPr>
          <a:xfrm>
            <a:off x="238050" y="1140975"/>
            <a:ext cx="2571900" cy="2190900"/>
            <a:chOff x="381000" y="1238250"/>
            <a:chExt cx="2571900" cy="2190900"/>
          </a:xfrm>
        </p:grpSpPr>
        <p:sp>
          <p:nvSpPr>
            <p:cNvPr id="85" name="Google Shape;85;p15"/>
            <p:cNvSpPr/>
            <p:nvPr/>
          </p:nvSpPr>
          <p:spPr>
            <a:xfrm>
              <a:off x="381000" y="1238250"/>
              <a:ext cx="2571900" cy="2190900"/>
            </a:xfrm>
            <a:prstGeom prst="roundRect">
              <a:avLst>
                <a:gd fmla="val 3478" name="adj"/>
              </a:avLst>
            </a:prstGeom>
            <a:solidFill>
              <a:srgbClr val="262B33"/>
            </a:solidFill>
            <a:ln cap="flat" cmpd="sng" w="9525">
              <a:solidFill>
                <a:srgbClr val="383F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381000" y="1238250"/>
              <a:ext cx="47700" cy="2190900"/>
            </a:xfrm>
            <a:prstGeom prst="roundRect">
              <a:avLst>
                <a:gd fmla="val 50000" name="adj"/>
              </a:avLst>
            </a:prstGeom>
            <a:solidFill>
              <a:srgbClr val="4B8EB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5"/>
            <p:cNvSpPr txBox="1"/>
            <p:nvPr/>
          </p:nvSpPr>
          <p:spPr>
            <a:xfrm>
              <a:off x="571500" y="1428750"/>
              <a:ext cx="21909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4B8EBC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800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Draft</a:t>
              </a:r>
              <a:endParaRPr b="1" sz="18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A8B2BE"/>
                  </a:solidFill>
                  <a:latin typeface="Calibri"/>
                  <a:ea typeface="Calibri"/>
                  <a:cs typeface="Calibri"/>
                  <a:sym typeface="Calibri"/>
                </a:rPr>
                <a:t>A small model rapidly generates several candidate tokens. Cheap — model is ~1/8 the size.</a:t>
              </a:r>
              <a:endParaRPr b="0" sz="1200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8" name="Google Shape;88;p15"/>
          <p:cNvSpPr txBox="1"/>
          <p:nvPr/>
        </p:nvSpPr>
        <p:spPr>
          <a:xfrm>
            <a:off x="2857425" y="2080902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404750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arrow_forward</a:t>
            </a:r>
            <a:endParaRPr sz="2400">
              <a:solidFill>
                <a:srgbClr val="404750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grpSp>
        <p:nvGrpSpPr>
          <p:cNvPr id="89" name="Google Shape;89;p15"/>
          <p:cNvGrpSpPr/>
          <p:nvPr/>
        </p:nvGrpSpPr>
        <p:grpSpPr>
          <a:xfrm>
            <a:off x="3286050" y="1140975"/>
            <a:ext cx="2571900" cy="2190900"/>
            <a:chOff x="3429000" y="1238250"/>
            <a:chExt cx="2571900" cy="2190900"/>
          </a:xfrm>
        </p:grpSpPr>
        <p:sp>
          <p:nvSpPr>
            <p:cNvPr id="90" name="Google Shape;90;p15"/>
            <p:cNvSpPr/>
            <p:nvPr/>
          </p:nvSpPr>
          <p:spPr>
            <a:xfrm>
              <a:off x="3429000" y="1238250"/>
              <a:ext cx="2571900" cy="2190900"/>
            </a:xfrm>
            <a:prstGeom prst="roundRect">
              <a:avLst>
                <a:gd fmla="val 3478" name="adj"/>
              </a:avLst>
            </a:prstGeom>
            <a:solidFill>
              <a:srgbClr val="262B33"/>
            </a:solidFill>
            <a:ln cap="flat" cmpd="sng" w="9525">
              <a:solidFill>
                <a:srgbClr val="383F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3429000" y="1238250"/>
              <a:ext cx="47700" cy="2190900"/>
            </a:xfrm>
            <a:prstGeom prst="roundRect">
              <a:avLst>
                <a:gd fmla="val 50000" name="adj"/>
              </a:avLst>
            </a:prstGeom>
            <a:solidFill>
              <a:srgbClr val="4B8EB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5"/>
            <p:cNvSpPr txBox="1"/>
            <p:nvPr/>
          </p:nvSpPr>
          <p:spPr>
            <a:xfrm>
              <a:off x="3619500" y="1428750"/>
              <a:ext cx="21909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4B8EBC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800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Verify</a:t>
              </a:r>
              <a:endParaRPr b="1" sz="18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A8B2BE"/>
                  </a:solidFill>
                  <a:latin typeface="Calibri"/>
                  <a:ea typeface="Calibri"/>
                  <a:cs typeface="Calibri"/>
                  <a:sym typeface="Calibri"/>
                </a:rPr>
                <a:t>The large target model checks all candidates in one forward pass. Same cost as generating 1 token.</a:t>
              </a:r>
              <a:endParaRPr b="0" sz="1200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" name="Google Shape;93;p15"/>
          <p:cNvSpPr txBox="1"/>
          <p:nvPr/>
        </p:nvSpPr>
        <p:spPr>
          <a:xfrm>
            <a:off x="5905425" y="2080902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404750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arrow_forward</a:t>
            </a:r>
            <a:endParaRPr sz="2400">
              <a:solidFill>
                <a:srgbClr val="404750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grpSp>
        <p:nvGrpSpPr>
          <p:cNvPr id="94" name="Google Shape;94;p15"/>
          <p:cNvGrpSpPr/>
          <p:nvPr/>
        </p:nvGrpSpPr>
        <p:grpSpPr>
          <a:xfrm>
            <a:off x="6334050" y="1140975"/>
            <a:ext cx="2571900" cy="2190900"/>
            <a:chOff x="6477000" y="1238250"/>
            <a:chExt cx="2571900" cy="2190900"/>
          </a:xfrm>
        </p:grpSpPr>
        <p:sp>
          <p:nvSpPr>
            <p:cNvPr id="95" name="Google Shape;95;p15"/>
            <p:cNvSpPr/>
            <p:nvPr/>
          </p:nvSpPr>
          <p:spPr>
            <a:xfrm>
              <a:off x="6477000" y="1238250"/>
              <a:ext cx="2571900" cy="2190900"/>
            </a:xfrm>
            <a:prstGeom prst="roundRect">
              <a:avLst>
                <a:gd fmla="val 3478" name="adj"/>
              </a:avLst>
            </a:prstGeom>
            <a:solidFill>
              <a:srgbClr val="262B33"/>
            </a:solidFill>
            <a:ln cap="flat" cmpd="sng" w="9525">
              <a:solidFill>
                <a:srgbClr val="383F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6477000" y="1238250"/>
              <a:ext cx="47700" cy="2190900"/>
            </a:xfrm>
            <a:prstGeom prst="roundRect">
              <a:avLst>
                <a:gd fmla="val 50000" name="adj"/>
              </a:avLst>
            </a:prstGeom>
            <a:solidFill>
              <a:srgbClr val="4B8EB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5"/>
            <p:cNvSpPr txBox="1"/>
            <p:nvPr/>
          </p:nvSpPr>
          <p:spPr>
            <a:xfrm>
              <a:off x="6667500" y="1428750"/>
              <a:ext cx="21909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4B8EBC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800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Accept / Redo</a:t>
              </a:r>
              <a:endParaRPr b="1" sz="18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A8B2BE"/>
                  </a:solidFill>
                  <a:latin typeface="Calibri"/>
                  <a:ea typeface="Calibri"/>
                  <a:cs typeface="Calibri"/>
                  <a:sym typeface="Calibri"/>
                </a:rPr>
                <a:t>Correct guesses are kept. Wrong ones trigger a single autoregressive correction step.</a:t>
              </a:r>
              <a:endParaRPr b="0" sz="1200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" name="Google Shape;98;p15"/>
          <p:cNvGrpSpPr/>
          <p:nvPr/>
        </p:nvGrpSpPr>
        <p:grpSpPr>
          <a:xfrm>
            <a:off x="238050" y="3569850"/>
            <a:ext cx="8382000" cy="1047900"/>
            <a:chOff x="381000" y="3667125"/>
            <a:chExt cx="8382000" cy="1047900"/>
          </a:xfrm>
        </p:grpSpPr>
        <p:sp>
          <p:nvSpPr>
            <p:cNvPr id="99" name="Google Shape;99;p15"/>
            <p:cNvSpPr/>
            <p:nvPr/>
          </p:nvSpPr>
          <p:spPr>
            <a:xfrm>
              <a:off x="381000" y="3667125"/>
              <a:ext cx="8382000" cy="1047900"/>
            </a:xfrm>
            <a:prstGeom prst="roundRect">
              <a:avLst>
                <a:gd fmla="val 7272" name="adj"/>
              </a:avLst>
            </a:prstGeom>
            <a:solidFill>
              <a:srgbClr val="2D333D"/>
            </a:solidFill>
            <a:ln cap="flat" cmpd="sng" w="9525">
              <a:solidFill>
                <a:srgbClr val="383F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381000" y="3667125"/>
              <a:ext cx="47700" cy="1047900"/>
            </a:xfrm>
            <a:prstGeom prst="roundRect">
              <a:avLst>
                <a:gd fmla="val 50000" name="adj"/>
              </a:avLst>
            </a:prstGeom>
            <a:solidFill>
              <a:srgbClr val="4B8EB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5"/>
            <p:cNvSpPr txBox="1"/>
            <p:nvPr/>
          </p:nvSpPr>
          <p:spPr>
            <a:xfrm>
              <a:off x="619125" y="3810000"/>
              <a:ext cx="1238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E8ECF0"/>
                  </a:solidFill>
                  <a:latin typeface="Calibri"/>
                  <a:ea typeface="Calibri"/>
                  <a:cs typeface="Calibri"/>
                  <a:sym typeface="Calibri"/>
                </a:rPr>
                <a:t>Key Insight</a:t>
              </a:r>
              <a:endParaRPr b="1" sz="1300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02" name="Google Shape;102;p15"/>
            <p:cNvCxnSpPr/>
            <p:nvPr/>
          </p:nvCxnSpPr>
          <p:spPr>
            <a:xfrm>
              <a:off x="2000250" y="3810000"/>
              <a:ext cx="0" cy="7620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83F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03" name="Google Shape;103;p15"/>
            <p:cNvSpPr txBox="1"/>
            <p:nvPr/>
          </p:nvSpPr>
          <p:spPr>
            <a:xfrm>
              <a:off x="2238375" y="3810000"/>
              <a:ext cx="63342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A8B2BE"/>
                  </a:solidFill>
                  <a:latin typeface="Calibri"/>
                  <a:ea typeface="Calibri"/>
                  <a:cs typeface="Calibri"/>
                  <a:sym typeface="Calibri"/>
                </a:rPr>
                <a:t>Verifying N tokens in one pass costs the same as generating 1 token. If the draft is right, you get N tokens for the price of 1.</a:t>
              </a:r>
              <a:endParaRPr b="0" sz="1100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A8B2BE"/>
                  </a:solidFill>
                  <a:latin typeface="Calibri"/>
                  <a:ea typeface="Calibri"/>
                  <a:cs typeface="Calibri"/>
                  <a:sym typeface="Calibri"/>
                </a:rPr>
                <a:t>EAGLE-3 improves on standard spec dec by attaching a draft head directly to the target model's hidden states — achieving ~40–55% acceptance vs ~15–25% for a separate small model.</a:t>
              </a:r>
              <a:endParaRPr b="0" sz="1100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EAGLE-3 vs Standard Speculative Decoding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Why acceptance rate is the key variable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16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16"/>
          <p:cNvSpPr/>
          <p:nvPr/>
        </p:nvSpPr>
        <p:spPr>
          <a:xfrm>
            <a:off x="384048" y="1051560"/>
            <a:ext cx="4005072" cy="3520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384048" y="1051560"/>
            <a:ext cx="45720" cy="3520440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/>
          <p:nvPr/>
        </p:nvSpPr>
        <p:spPr>
          <a:xfrm>
            <a:off x="566928" y="118872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Standard Spec Dec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6"/>
          <p:cNvSpPr/>
          <p:nvPr/>
        </p:nvSpPr>
        <p:spPr>
          <a:xfrm>
            <a:off x="594360" y="1682496"/>
            <a:ext cx="54864" cy="201168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6"/>
          <p:cNvSpPr/>
          <p:nvPr/>
        </p:nvSpPr>
        <p:spPr>
          <a:xfrm>
            <a:off x="749808" y="164592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Separate small model (e.g. Llama 1B) as drafter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594360" y="2157984"/>
            <a:ext cx="54864" cy="201168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749808" y="2121408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Different internal representation from the 8B target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594360" y="2633472"/>
            <a:ext cx="54864" cy="201168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6"/>
          <p:cNvSpPr/>
          <p:nvPr/>
        </p:nvSpPr>
        <p:spPr>
          <a:xfrm>
            <a:off x="749808" y="2596896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Acceptance rate: ~15–25%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594360" y="3108960"/>
            <a:ext cx="54864" cy="201168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749808" y="3072384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Speedup often modest or negligible in practice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594360" y="3584448"/>
            <a:ext cx="54864" cy="201168"/>
          </a:xfrm>
          <a:prstGeom prst="rect">
            <a:avLst/>
          </a:prstGeom>
          <a:solidFill>
            <a:srgbClr val="4047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/>
          <p:nvPr/>
        </p:nvSpPr>
        <p:spPr>
          <a:xfrm>
            <a:off x="749808" y="3547872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Used on Mac/MLX in this study (EAGLE-3 not supported by MLX)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4754880" y="1051560"/>
            <a:ext cx="4005072" cy="3520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4754880" y="1051560"/>
            <a:ext cx="45720" cy="35204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>
            <a:off x="4937760" y="118872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EAGLE-3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4782312" y="1682496"/>
            <a:ext cx="54864" cy="20116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/>
          <p:cNvSpPr/>
          <p:nvPr/>
        </p:nvSpPr>
        <p:spPr>
          <a:xfrm>
            <a:off x="4937760" y="164592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Lightweight head built on top of the target model's own hidden states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4782312" y="2157984"/>
            <a:ext cx="54864" cy="20116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6"/>
          <p:cNvSpPr/>
          <p:nvPr/>
        </p:nvSpPr>
        <p:spPr>
          <a:xfrm>
            <a:off x="4937760" y="212140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Sees the same internal features as the 8B — much better alignment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4782312" y="2633472"/>
            <a:ext cx="54864" cy="20116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4937760" y="2596896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Acceptance rate: ~40–55% (up to 2× higher than standard)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4782312" y="3108960"/>
            <a:ext cx="54864" cy="20116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4937760" y="3072384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Actual speedup exceeds theory — draft cost is near-zero on GPU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782312" y="3584448"/>
            <a:ext cx="54864" cy="20116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4937760" y="3547872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Requires vLLM; native GPU support via PagedAttention batch scheduling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" name="Google Shape;138;p16"/>
          <p:cNvCxnSpPr/>
          <p:nvPr/>
        </p:nvCxnSpPr>
        <p:spPr>
          <a:xfrm>
            <a:off x="384048" y="4663440"/>
            <a:ext cx="8375904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16"/>
          <p:cNvSpPr/>
          <p:nvPr/>
        </p:nvSpPr>
        <p:spPr>
          <a:xfrm>
            <a:off x="384048" y="4709160"/>
            <a:ext cx="83759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Theoretical max speedup: S = 1/(1−α) where α = acceptance rate. At α=0.43 (code, A100 c=1): theory predicts 1.74×, actual is 2.87× — because draft model cost ≈ 0 on A100.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7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Experiment Setup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17"/>
          <p:cNvSpPr/>
          <p:nvPr/>
        </p:nvSpPr>
        <p:spPr>
          <a:xfrm>
            <a:off x="384048" y="1078992"/>
            <a:ext cx="8375904" cy="5669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384048" y="1078992"/>
            <a:ext cx="45720" cy="56692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/>
          <p:nvPr/>
        </p:nvSpPr>
        <p:spPr>
          <a:xfrm>
            <a:off x="548640" y="11887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Target model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2487168" y="1188720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LLaMA-3 8B Instruct (vLLM + EAGLE-3 on GPU  ·  MLX 4-bit on Mac)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84048" y="1728216"/>
            <a:ext cx="8375904" cy="56692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384048" y="1728216"/>
            <a:ext cx="45720" cy="56692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548640" y="1837944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Draft model (GPU)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2487168" y="1837944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EAGLE3-LLaMA3.1-Instruct-8B  (feature-level head, not a separate model)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84048" y="2377440"/>
            <a:ext cx="8375904" cy="5669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384048" y="2377440"/>
            <a:ext cx="45720" cy="566928"/>
          </a:xfrm>
          <a:prstGeom prst="rect">
            <a:avLst/>
          </a:prstGeom>
          <a:solidFill>
            <a:srgbClr val="6B74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548640" y="248716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Draft model (Mac)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2487168" y="2487168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Llama-3.2-1B-Instruct-4bit  (standard spec dec — EAGLE-3 unavailable in MLX)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384048" y="3026664"/>
            <a:ext cx="8375904" cy="56692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384048" y="3026664"/>
            <a:ext cx="45720" cy="56692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548640" y="313639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Concurrency levels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2487168" y="3136392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1 · 4 · 8 · 16 · 32 simultaneous requests · 3 trials per cell (GPU)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384048" y="3675888"/>
            <a:ext cx="8375904" cy="5669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384048" y="3675888"/>
            <a:ext cx="45720" cy="56692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7"/>
          <p:cNvSpPr/>
          <p:nvPr/>
        </p:nvSpPr>
        <p:spPr>
          <a:xfrm>
            <a:off x="548640" y="3785616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Tasks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2487168" y="3785616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Chat — ShareGPT  ·  Code — HumanEval  ·  Summarization — CNN/DailyMail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384048" y="4325112"/>
            <a:ext cx="8375904" cy="56692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384048" y="4325112"/>
            <a:ext cx="45720" cy="566928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548640" y="443484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Metrics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2487168" y="4434840"/>
            <a:ext cx="6126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TPS · TTFT (ms) · TPOT (ms) · Total latency · Acceptance rate · Cost/request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384048" y="4992624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50"/>
              <a:buFont typeface="Calibri"/>
              <a:buNone/>
            </a:pPr>
            <a:r>
              <a:rPr b="1" i="0" lang="en" sz="9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Platform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1664208" y="4992624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50"/>
              <a:buFont typeface="Calibri"/>
              <a:buNone/>
            </a:pPr>
            <a:r>
              <a:rPr b="1" i="0" lang="en" sz="9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3310128" y="4992624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50"/>
              <a:buFont typeface="Calibri"/>
              <a:buNone/>
            </a:pPr>
            <a:r>
              <a:rPr b="1" i="0" lang="en" sz="9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VRAM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4681728" y="4992624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50"/>
              <a:buFont typeface="Calibri"/>
              <a:buNone/>
            </a:pPr>
            <a:r>
              <a:rPr b="1" i="0" lang="en" sz="9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Mem BW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6053328" y="4992624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50"/>
              <a:buFont typeface="Calibri"/>
              <a:buNone/>
            </a:pPr>
            <a:r>
              <a:rPr b="1" i="0" lang="en" sz="9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Framework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Why These Three Tasks?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Token predictability directly drives acceptance rate — which drives speedup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18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4" name="Google Shape;184;p18"/>
          <p:cNvSpPr/>
          <p:nvPr/>
        </p:nvSpPr>
        <p:spPr>
          <a:xfrm>
            <a:off x="384048" y="1051560"/>
            <a:ext cx="2633472" cy="379476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384048" y="1051560"/>
            <a:ext cx="45720" cy="379476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566928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Code (HumanEval)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566928" y="16916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High predictability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566928" y="202996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Structured, repetitive patterns — function defs, docstrings, return statements. Multiple concurrent code requests are often structurally similar.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9" name="Google Shape;189;p18"/>
          <p:cNvCxnSpPr/>
          <p:nvPr/>
        </p:nvCxnSpPr>
        <p:spPr>
          <a:xfrm>
            <a:off x="566928" y="3072384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0" name="Google Shape;190;p18"/>
          <p:cNvSpPr/>
          <p:nvPr/>
        </p:nvSpPr>
        <p:spPr>
          <a:xfrm>
            <a:off x="566928" y="3145536"/>
            <a:ext cx="23317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566928" y="3364992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43–50%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566928" y="365760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Slowly rising with concurrency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566928" y="425196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Peak: Up to 2.91×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3200400" y="1051560"/>
            <a:ext cx="2633472" cy="379476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8"/>
          <p:cNvSpPr/>
          <p:nvPr/>
        </p:nvSpPr>
        <p:spPr>
          <a:xfrm>
            <a:off x="3200400" y="1051560"/>
            <a:ext cx="45720" cy="379476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3383280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Summarization (CNN/DM)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3383280" y="16916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Medium predictability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3383280" y="202996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Predictable domain vocabulary after context is established. Long input prompts add TTFT overhead at high concurrency.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9" name="Google Shape;199;p18"/>
          <p:cNvCxnSpPr/>
          <p:nvPr/>
        </p:nvCxnSpPr>
        <p:spPr>
          <a:xfrm>
            <a:off x="3383280" y="3072384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0" name="Google Shape;200;p18"/>
          <p:cNvSpPr/>
          <p:nvPr/>
        </p:nvSpPr>
        <p:spPr>
          <a:xfrm>
            <a:off x="3383280" y="3145536"/>
            <a:ext cx="23317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8"/>
          <p:cNvSpPr/>
          <p:nvPr/>
        </p:nvSpPr>
        <p:spPr>
          <a:xfrm>
            <a:off x="3383280" y="3364992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~50% (gently falling)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8"/>
          <p:cNvSpPr/>
          <p:nvPr/>
        </p:nvSpPr>
        <p:spPr>
          <a:xfrm>
            <a:off x="3383280" y="365760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Gently decreasing with concurrency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3383280" y="425196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Peak: Up to 2.40×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016752" y="1051560"/>
            <a:ext cx="2633472" cy="379476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6016752" y="1051560"/>
            <a:ext cx="45720" cy="379476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8"/>
          <p:cNvSpPr/>
          <p:nvPr/>
        </p:nvSpPr>
        <p:spPr>
          <a:xfrm>
            <a:off x="6199632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Chat (ShareGPT)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6199632" y="169164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Low predictability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6199632" y="202996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Creative, diverse responses are hardest to predict. But batch coherence at high concurrency improves draft accuracy dramatically.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8"/>
          <p:cNvCxnSpPr/>
          <p:nvPr/>
        </p:nvCxnSpPr>
        <p:spPr>
          <a:xfrm>
            <a:off x="6199632" y="3072384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8"/>
          <p:cNvSpPr/>
          <p:nvPr/>
        </p:nvSpPr>
        <p:spPr>
          <a:xfrm>
            <a:off x="6199632" y="3145536"/>
            <a:ext cx="23317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6199632" y="3364992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19–42%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199632" y="3657600"/>
            <a:ext cx="2331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Rapidly rising with concurrency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/>
          <p:nvPr/>
        </p:nvSpPr>
        <p:spPr>
          <a:xfrm>
            <a:off x="6199632" y="4251960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150"/>
              <a:buFont typeface="Calibri"/>
              <a:buNone/>
            </a:pPr>
            <a:r>
              <a:rPr b="1" i="0" lang="en" sz="115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Peak: Up to 2.28×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9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Why Sweep Concurrency from 1 to 32?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19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19"/>
          <p:cNvSpPr/>
          <p:nvPr/>
        </p:nvSpPr>
        <p:spPr>
          <a:xfrm>
            <a:off x="384048" y="1051560"/>
            <a:ext cx="2633472" cy="274320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9"/>
          <p:cNvSpPr/>
          <p:nvPr/>
        </p:nvSpPr>
        <p:spPr>
          <a:xfrm>
            <a:off x="384048" y="1051560"/>
            <a:ext cx="45720" cy="274320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9"/>
          <p:cNvSpPr/>
          <p:nvPr/>
        </p:nvSpPr>
        <p:spPr>
          <a:xfrm>
            <a:off x="566928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c = 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566928" y="16642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Memory-bound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66928" y="1993392"/>
            <a:ext cx="23317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GPU idle between token loads. Draft tokens are nearly free. This is the theoretical ideal for spec dec.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6" name="Google Shape;226;p19"/>
          <p:cNvCxnSpPr/>
          <p:nvPr/>
        </p:nvCxnSpPr>
        <p:spPr>
          <a:xfrm>
            <a:off x="566928" y="3182112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7" name="Google Shape;227;p19"/>
          <p:cNvSpPr/>
          <p:nvPr/>
        </p:nvSpPr>
        <p:spPr>
          <a:xfrm>
            <a:off x="566928" y="323697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Best for code &amp; summarization on GPU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3200400" y="1051560"/>
            <a:ext cx="2633472" cy="274320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/>
          <p:nvPr/>
        </p:nvSpPr>
        <p:spPr>
          <a:xfrm>
            <a:off x="3200400" y="1051560"/>
            <a:ext cx="45720" cy="274320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9"/>
          <p:cNvSpPr/>
          <p:nvPr/>
        </p:nvSpPr>
        <p:spPr>
          <a:xfrm>
            <a:off x="3383280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c = 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3383280" y="16642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Transition zone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3383280" y="1993392"/>
            <a:ext cx="23317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Compute utilization rising. Draft overhead begins to cost. On L4, batch coherence is actually improving acceptance rate.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3" name="Google Shape;233;p19"/>
          <p:cNvCxnSpPr/>
          <p:nvPr/>
        </p:nvCxnSpPr>
        <p:spPr>
          <a:xfrm>
            <a:off x="3383280" y="3182112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4" name="Google Shape;234;p19"/>
          <p:cNvSpPr/>
          <p:nvPr/>
        </p:nvSpPr>
        <p:spPr>
          <a:xfrm>
            <a:off x="3383280" y="323697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Sweet spot for chat on A100/L4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6016752" y="1051560"/>
            <a:ext cx="2633472" cy="274320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9"/>
          <p:cNvSpPr/>
          <p:nvPr/>
        </p:nvSpPr>
        <p:spPr>
          <a:xfrm>
            <a:off x="6016752" y="1051560"/>
            <a:ext cx="45720" cy="274320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9"/>
          <p:cNvSpPr/>
          <p:nvPr/>
        </p:nvSpPr>
        <p:spPr>
          <a:xfrm>
            <a:off x="6199632" y="1170432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c = 32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6199632" y="16642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Compute-saturated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6199632" y="1993392"/>
            <a:ext cx="23317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Every CUDA core busy. Draft-verify cycles compound. Eagle3 still wins on GPU — but advantage shrinks as draft overhead grows.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0" name="Google Shape;240;p19"/>
          <p:cNvCxnSpPr/>
          <p:nvPr/>
        </p:nvCxnSpPr>
        <p:spPr>
          <a:xfrm>
            <a:off x="6199632" y="3182112"/>
            <a:ext cx="2212848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1" name="Google Shape;241;p19"/>
          <p:cNvSpPr/>
          <p:nvPr/>
        </p:nvSpPr>
        <p:spPr>
          <a:xfrm>
            <a:off x="6199632" y="3236976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Eagle3 still faster; never crosses over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384048" y="3977640"/>
            <a:ext cx="8375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Why not just test c=1? At c=1 alone, Eagle3 looks even better. The sweep is essential to find the crossover and understand real-world degradation curves. Full sweep: c = 1, 4, 8, 16, 32. On A100/L4: no crossover found within c=32.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384048" y="4526280"/>
            <a:ext cx="8375904" cy="50292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9"/>
          <p:cNvSpPr/>
          <p:nvPr/>
        </p:nvSpPr>
        <p:spPr>
          <a:xfrm>
            <a:off x="475488" y="4617720"/>
            <a:ext cx="8193024" cy="32004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9"/>
          <p:cNvSpPr/>
          <p:nvPr/>
        </p:nvSpPr>
        <p:spPr>
          <a:xfrm>
            <a:off x="384048" y="4576572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384048" y="4663440"/>
            <a:ext cx="83759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Speedup vs concurrency — all hardware (line chart)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/>
          <p:nvPr/>
        </p:nvSpPr>
        <p:spPr>
          <a:xfrm>
            <a:off x="347472" y="1737360"/>
            <a:ext cx="8503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3000"/>
              <a:buFont typeface="Calibri"/>
              <a:buNone/>
            </a:pPr>
            <a:r>
              <a:rPr b="1" i="0" lang="en" sz="3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GPU Results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1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A100 Results — Overview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EAGLE-3 is always faster. Peak speedup 2.87× (Code, c=1). No crossover found.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1" name="Google Shape;261;p21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2" name="Google Shape;262;p21"/>
          <p:cNvSpPr/>
          <p:nvPr/>
        </p:nvSpPr>
        <p:spPr>
          <a:xfrm>
            <a:off x="384048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1"/>
          <p:cNvSpPr/>
          <p:nvPr/>
        </p:nvSpPr>
        <p:spPr>
          <a:xfrm>
            <a:off x="384048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2.87×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429768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Peak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Code c=1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2505456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1"/>
          <p:cNvSpPr/>
          <p:nvPr/>
        </p:nvSpPr>
        <p:spPr>
          <a:xfrm>
            <a:off x="2505456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1.98×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/>
          <p:nvPr/>
        </p:nvSpPr>
        <p:spPr>
          <a:xfrm>
            <a:off x="2551176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Peak chat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c=8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4626864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1"/>
          <p:cNvSpPr/>
          <p:nvPr/>
        </p:nvSpPr>
        <p:spPr>
          <a:xfrm>
            <a:off x="4626864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2.33×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4672584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Peak summ.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c=1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6748272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6748272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40.7%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6793992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Cost reduction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vs baseline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384048" y="2212848"/>
            <a:ext cx="4160520" cy="26060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1"/>
          <p:cNvSpPr/>
          <p:nvPr/>
        </p:nvSpPr>
        <p:spPr>
          <a:xfrm>
            <a:off x="475488" y="2304288"/>
            <a:ext cx="3977640" cy="24231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1"/>
          <p:cNvSpPr/>
          <p:nvPr/>
        </p:nvSpPr>
        <p:spPr>
          <a:xfrm>
            <a:off x="384048" y="3314700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1"/>
          <p:cNvSpPr/>
          <p:nvPr/>
        </p:nvSpPr>
        <p:spPr>
          <a:xfrm>
            <a:off x="384048" y="2350008"/>
            <a:ext cx="4160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A100 TPS: Baseline vs EAGLE-3 — by task (grouped bar or line)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1"/>
          <p:cNvSpPr/>
          <p:nvPr/>
        </p:nvSpPr>
        <p:spPr>
          <a:xfrm>
            <a:off x="4709160" y="2212848"/>
            <a:ext cx="4050792" cy="26060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1"/>
          <p:cNvSpPr/>
          <p:nvPr/>
        </p:nvSpPr>
        <p:spPr>
          <a:xfrm>
            <a:off x="4709160" y="2212848"/>
            <a:ext cx="45720" cy="26060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1"/>
          <p:cNvSpPr/>
          <p:nvPr/>
        </p:nvSpPr>
        <p:spPr>
          <a:xfrm>
            <a:off x="4892040" y="2331720"/>
            <a:ext cx="37033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1"/>
          <p:cNvSpPr/>
          <p:nvPr/>
        </p:nvSpPr>
        <p:spPr>
          <a:xfrm>
            <a:off x="4919472" y="2743200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1"/>
          <p:cNvSpPr/>
          <p:nvPr/>
        </p:nvSpPr>
        <p:spPr>
          <a:xfrm>
            <a:off x="5047488" y="2706624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Code sees the largest gain (2.87×). Structured output → high acceptance rate (42–50%).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/>
          <p:nvPr/>
        </p:nvSpPr>
        <p:spPr>
          <a:xfrm>
            <a:off x="4919472" y="3136392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1"/>
          <p:cNvSpPr/>
          <p:nvPr/>
        </p:nvSpPr>
        <p:spPr>
          <a:xfrm>
            <a:off x="5047488" y="3099816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Chat peaks at c=8 (1.98×) not c=1 — larger batches improve draft accuracy (19% → 42%).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4919472" y="352958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1"/>
          <p:cNvSpPr/>
          <p:nvPr/>
        </p:nvSpPr>
        <p:spPr>
          <a:xfrm>
            <a:off x="5047488" y="3493008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Summarization highest acceptance rate (~50%) but speedup decays fastest due to long input prefill.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/>
          <p:nvPr/>
        </p:nvSpPr>
        <p:spPr>
          <a:xfrm>
            <a:off x="4919472" y="3922776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1"/>
          <p:cNvSpPr/>
          <p:nvPr/>
        </p:nvSpPr>
        <p:spPr>
          <a:xfrm>
            <a:off x="5047488" y="3886200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TTFT overhead at c=1 for chat: 913 ms vs 313 ms baseline. Gap closes at c≥8 (103 ms vs 106 ms).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/>
          <p:nvPr/>
        </p:nvSpPr>
        <p:spPr>
          <a:xfrm>
            <a:off x="4919472" y="4315968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1"/>
          <p:cNvSpPr/>
          <p:nvPr/>
        </p:nvSpPr>
        <p:spPr>
          <a:xfrm>
            <a:off x="5047488" y="4279392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Total latency wins at every concurrency despite TTFT — TPOT savings compound over 256 tokens.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2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A100 — Chat Task Detail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 rises rapidly with concurrency (0.19 → 0.42)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22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299" name="Google Shape;299;p22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822950"/>
                <a:gridCol w="1417325"/>
                <a:gridCol w="914400"/>
                <a:gridCol w="777250"/>
                <a:gridCol w="1188725"/>
                <a:gridCol w="868675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Conc.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 Rate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313 ± 496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10.80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84.9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913 ± 1517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7.14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110.7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1.31×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47.7 ± 12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10.86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90.9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914 ± 1033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5.94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136.3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0.302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106 ± 65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11.05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87.6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103 ± 61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5.74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173.2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1.98×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77.1 ± 20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11.35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163 ± 96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6.35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151.1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0.394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1.79×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144 ± 65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12.97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72.5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185 ± 56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8.08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115.4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0.419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1.59×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</a:tbl>
          </a:graphicData>
        </a:graphic>
      </p:graphicFrame>
      <p:sp>
        <p:nvSpPr>
          <p:cNvPr id="300" name="Google Shape;300;p22"/>
          <p:cNvSpPr/>
          <p:nvPr/>
        </p:nvSpPr>
        <p:spPr>
          <a:xfrm>
            <a:off x="6949440" y="1078992"/>
            <a:ext cx="182880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>
            <a:off x="6949440" y="1078992"/>
            <a:ext cx="45720" cy="123444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2"/>
          <p:cNvSpPr/>
          <p:nvPr/>
        </p:nvSpPr>
        <p:spPr>
          <a:xfrm>
            <a:off x="7132320" y="11887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TTFT at c=1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2"/>
          <p:cNvSpPr/>
          <p:nvPr/>
        </p:nvSpPr>
        <p:spPr>
          <a:xfrm>
            <a:off x="7132320" y="1481328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913 ms vs 313 ms — 2.9× worse. Vanishes at c≥8 (103 vs 106 ms).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6949440" y="2423160"/>
            <a:ext cx="182880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2"/>
          <p:cNvSpPr/>
          <p:nvPr/>
        </p:nvSpPr>
        <p:spPr>
          <a:xfrm>
            <a:off x="6949440" y="2423160"/>
            <a:ext cx="45720" cy="123444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2"/>
          <p:cNvSpPr/>
          <p:nvPr/>
        </p:nvSpPr>
        <p:spPr>
          <a:xfrm>
            <a:off x="7132320" y="253288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Peak at c=8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2"/>
          <p:cNvSpPr/>
          <p:nvPr/>
        </p:nvSpPr>
        <p:spPr>
          <a:xfrm>
            <a:off x="7132320" y="2825496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1.98× speedup. Batch efficiency + higher acceptance (36%) combine.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/>
          <p:nvPr/>
        </p:nvSpPr>
        <p:spPr>
          <a:xfrm>
            <a:off x="6949440" y="3767328"/>
            <a:ext cx="1828800" cy="10058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2"/>
          <p:cNvSpPr/>
          <p:nvPr/>
        </p:nvSpPr>
        <p:spPr>
          <a:xfrm>
            <a:off x="6949440" y="3767328"/>
            <a:ext cx="45720" cy="10058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2"/>
          <p:cNvSpPr/>
          <p:nvPr/>
        </p:nvSpPr>
        <p:spPr>
          <a:xfrm>
            <a:off x="7132320" y="3840480"/>
            <a:ext cx="1554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TPOT improves 1.4–1.9× at every concurrency. Chat streaming is noticeably faster once started.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/>
          <p:nvPr/>
        </p:nvSpPr>
        <p:spPr>
          <a:xfrm>
            <a:off x="384048" y="3858768"/>
            <a:ext cx="6400800" cy="10058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"/>
          <p:cNvSpPr/>
          <p:nvPr/>
        </p:nvSpPr>
        <p:spPr>
          <a:xfrm>
            <a:off x="475488" y="3950208"/>
            <a:ext cx="6217920" cy="8229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2"/>
          <p:cNvSpPr/>
          <p:nvPr/>
        </p:nvSpPr>
        <p:spPr>
          <a:xfrm>
            <a:off x="384048" y="416052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/>
          <p:nvPr/>
        </p:nvSpPr>
        <p:spPr>
          <a:xfrm>
            <a:off x="384048" y="399592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Chat TPS &amp; TTFT vs concurrency (A100)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3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A100 — Code Task Detail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3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Highest speedup in the study: 2.87× at c=1. Acceptance rate 42–50%.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2" name="Google Shape;322;p23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323" name="Google Shape;323;p23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822950"/>
                <a:gridCol w="1417325"/>
                <a:gridCol w="914400"/>
                <a:gridCol w="777250"/>
                <a:gridCol w="1188725"/>
                <a:gridCol w="868675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Conc.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 Rate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28.3 ± 3.8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10.75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92.4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36.0 ± 0.9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3.65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265.0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2.87×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48.7 ± 18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10.85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90.8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61.8 ± 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3.91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242.1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0.433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2.67×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63.1 ± 22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11.01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89.1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84.6 ± 24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4.42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211.6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0.447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2.38×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93.2 ± 41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11.43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85.1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 ± 41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5.06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181.5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0.468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2.13×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 ± 63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13.07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73.5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190 ± 66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6.89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132.3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1.80×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</a:tbl>
          </a:graphicData>
        </a:graphic>
      </p:graphicFrame>
      <p:sp>
        <p:nvSpPr>
          <p:cNvPr id="324" name="Google Shape;324;p23"/>
          <p:cNvSpPr/>
          <p:nvPr/>
        </p:nvSpPr>
        <p:spPr>
          <a:xfrm>
            <a:off x="6949440" y="1078992"/>
            <a:ext cx="182880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3"/>
          <p:cNvSpPr/>
          <p:nvPr/>
        </p:nvSpPr>
        <p:spPr>
          <a:xfrm>
            <a:off x="6949440" y="1078992"/>
            <a:ext cx="45720" cy="123444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3"/>
          <p:cNvSpPr/>
          <p:nvPr/>
        </p:nvSpPr>
        <p:spPr>
          <a:xfrm>
            <a:off x="7132320" y="11887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2.87× at c=1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3"/>
          <p:cNvSpPr/>
          <p:nvPr/>
        </p:nvSpPr>
        <p:spPr>
          <a:xfrm>
            <a:off x="7132320" y="1481328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Latency: 966 ms vs 2,769 ms. Sub-second responses with Eagle3.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6949440" y="2423160"/>
            <a:ext cx="182880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3"/>
          <p:cNvSpPr/>
          <p:nvPr/>
        </p:nvSpPr>
        <p:spPr>
          <a:xfrm>
            <a:off x="6949440" y="2423160"/>
            <a:ext cx="45720" cy="12344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3"/>
          <p:cNvSpPr/>
          <p:nvPr/>
        </p:nvSpPr>
        <p:spPr>
          <a:xfrm>
            <a:off x="7132320" y="253288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Above 2× to c=16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3"/>
          <p:cNvSpPr/>
          <p:nvPr/>
        </p:nvSpPr>
        <p:spPr>
          <a:xfrm>
            <a:off x="7132320" y="2825496"/>
            <a:ext cx="1554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TPOT: 10.75 → 3.65 ms (2.95×). Draft model cost ≈ 0 on A100.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3"/>
          <p:cNvSpPr/>
          <p:nvPr/>
        </p:nvSpPr>
        <p:spPr>
          <a:xfrm>
            <a:off x="6949440" y="3767328"/>
            <a:ext cx="1828800" cy="10058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3"/>
          <p:cNvSpPr/>
          <p:nvPr/>
        </p:nvSpPr>
        <p:spPr>
          <a:xfrm>
            <a:off x="6949440" y="3767328"/>
            <a:ext cx="45720" cy="100584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23"/>
          <p:cNvSpPr/>
          <p:nvPr/>
        </p:nvSpPr>
        <p:spPr>
          <a:xfrm>
            <a:off x="7132320" y="3840480"/>
            <a:ext cx="1554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Theory predicts 1.74× at 42.6% acceptance. Actual 2.87× = +65% super-linear gain.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3"/>
          <p:cNvSpPr/>
          <p:nvPr/>
        </p:nvSpPr>
        <p:spPr>
          <a:xfrm>
            <a:off x="384048" y="3858768"/>
            <a:ext cx="6400800" cy="10058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3"/>
          <p:cNvSpPr/>
          <p:nvPr/>
        </p:nvSpPr>
        <p:spPr>
          <a:xfrm>
            <a:off x="475488" y="3950208"/>
            <a:ext cx="6217920" cy="8229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3"/>
          <p:cNvSpPr/>
          <p:nvPr/>
        </p:nvSpPr>
        <p:spPr>
          <a:xfrm>
            <a:off x="384048" y="416052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3"/>
          <p:cNvSpPr/>
          <p:nvPr/>
        </p:nvSpPr>
        <p:spPr>
          <a:xfrm>
            <a:off x="384048" y="399592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Code TPS + acceptance rate vs concurrency (A100)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4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A100 — Summarization Task Detail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4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Highest acceptance (~50%) but fastest speedup decay. Long inputs add prefill overhead.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6" name="Google Shape;346;p24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347" name="Google Shape;347;p24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822950"/>
                <a:gridCol w="1417325"/>
                <a:gridCol w="914400"/>
                <a:gridCol w="777250"/>
                <a:gridCol w="1188725"/>
                <a:gridCol w="868675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Conc.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 (ms)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 Rate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36.8 ± 18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10.84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45.2 ± 15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4.41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210.5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2.33×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69.6 ± 42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10.96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87.6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80.5 ± 46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5.56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164.4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1.88×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78.2 ± 41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11.14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85.2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101 ± 43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5.87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150.4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1.77×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138 ± 89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11.75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78.0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159 ± 85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7.03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121.0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1.55×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217 ± 146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13.93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267 ± 152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9.79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85.5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0.485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1.33×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</a:tbl>
          </a:graphicData>
        </a:graphic>
      </p:graphicFrame>
      <p:sp>
        <p:nvSpPr>
          <p:cNvPr id="348" name="Google Shape;348;p24"/>
          <p:cNvSpPr/>
          <p:nvPr/>
        </p:nvSpPr>
        <p:spPr>
          <a:xfrm>
            <a:off x="6949440" y="1078992"/>
            <a:ext cx="1828800" cy="256032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4"/>
          <p:cNvSpPr/>
          <p:nvPr/>
        </p:nvSpPr>
        <p:spPr>
          <a:xfrm>
            <a:off x="6949440" y="1078992"/>
            <a:ext cx="45720" cy="256032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24"/>
          <p:cNvSpPr/>
          <p:nvPr/>
        </p:nvSpPr>
        <p:spPr>
          <a:xfrm>
            <a:off x="7132320" y="118872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050"/>
              <a:buFont typeface="Calibri"/>
              <a:buNone/>
            </a:pPr>
            <a:r>
              <a:rPr b="1" i="0" lang="en" sz="105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Why decay?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4"/>
          <p:cNvSpPr/>
          <p:nvPr/>
        </p:nvSpPr>
        <p:spPr>
          <a:xfrm>
            <a:off x="7132320" y="1481328"/>
            <a:ext cx="15544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Long input prompts (~500 tokens) mean prefill dominates total compute at high concurrency. Eagle3 gains are in the decode phase — their weight shrinks as prefill grows.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Acceptance rate gently falls (50% → 48%) as batching misaligns individual sequence patterns.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4"/>
          <p:cNvSpPr/>
          <p:nvPr/>
        </p:nvSpPr>
        <p:spPr>
          <a:xfrm>
            <a:off x="6949440" y="3767328"/>
            <a:ext cx="1828800" cy="10058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4"/>
          <p:cNvSpPr/>
          <p:nvPr/>
        </p:nvSpPr>
        <p:spPr>
          <a:xfrm>
            <a:off x="7040880" y="3858768"/>
            <a:ext cx="1645920" cy="8229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4"/>
          <p:cNvSpPr/>
          <p:nvPr/>
        </p:nvSpPr>
        <p:spPr>
          <a:xfrm>
            <a:off x="6949440" y="406908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4"/>
          <p:cNvSpPr/>
          <p:nvPr/>
        </p:nvSpPr>
        <p:spPr>
          <a:xfrm>
            <a:off x="6949440" y="3904488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 trend (Summ.)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4"/>
          <p:cNvSpPr/>
          <p:nvPr/>
        </p:nvSpPr>
        <p:spPr>
          <a:xfrm>
            <a:off x="384048" y="3858768"/>
            <a:ext cx="6400800" cy="10058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4"/>
          <p:cNvSpPr/>
          <p:nvPr/>
        </p:nvSpPr>
        <p:spPr>
          <a:xfrm>
            <a:off x="475488" y="3950208"/>
            <a:ext cx="6217920" cy="8229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4"/>
          <p:cNvSpPr/>
          <p:nvPr/>
        </p:nvSpPr>
        <p:spPr>
          <a:xfrm>
            <a:off x="384048" y="4160520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4"/>
          <p:cNvSpPr/>
          <p:nvPr/>
        </p:nvSpPr>
        <p:spPr>
          <a:xfrm>
            <a:off x="384048" y="3995928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Summarization TPS vs concurrency (A100)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25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L4 Results — Overview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5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Speedup equals or exceeds A100 in relative terms. 5.5× slower in absolute TPS but same relative gain.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7" name="Google Shape;367;p25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8" name="Google Shape;368;p25"/>
          <p:cNvSpPr/>
          <p:nvPr/>
        </p:nvSpPr>
        <p:spPr>
          <a:xfrm>
            <a:off x="384048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5"/>
          <p:cNvSpPr/>
          <p:nvPr/>
        </p:nvSpPr>
        <p:spPr>
          <a:xfrm>
            <a:off x="384048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2.91×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5"/>
          <p:cNvSpPr/>
          <p:nvPr/>
        </p:nvSpPr>
        <p:spPr>
          <a:xfrm>
            <a:off x="429768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Peak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Code c=4 — highest in study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5"/>
          <p:cNvSpPr/>
          <p:nvPr/>
        </p:nvSpPr>
        <p:spPr>
          <a:xfrm>
            <a:off x="2505456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5"/>
          <p:cNvSpPr/>
          <p:nvPr/>
        </p:nvSpPr>
        <p:spPr>
          <a:xfrm>
            <a:off x="2505456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2.28×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5"/>
          <p:cNvSpPr/>
          <p:nvPr/>
        </p:nvSpPr>
        <p:spPr>
          <a:xfrm>
            <a:off x="2551176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Peak chat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c=16 (vs A100's 1.98×)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5"/>
          <p:cNvSpPr/>
          <p:nvPr/>
        </p:nvSpPr>
        <p:spPr>
          <a:xfrm>
            <a:off x="4626864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5"/>
          <p:cNvSpPr/>
          <p:nvPr/>
        </p:nvSpPr>
        <p:spPr>
          <a:xfrm>
            <a:off x="4626864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50.6%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5"/>
          <p:cNvSpPr/>
          <p:nvPr/>
        </p:nvSpPr>
        <p:spPr>
          <a:xfrm>
            <a:off x="4672584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Cost reduction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vs L4 baseline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5"/>
          <p:cNvSpPr/>
          <p:nvPr/>
        </p:nvSpPr>
        <p:spPr>
          <a:xfrm>
            <a:off x="6748272" y="1051560"/>
            <a:ext cx="1965960" cy="1024128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5"/>
          <p:cNvSpPr/>
          <p:nvPr/>
        </p:nvSpPr>
        <p:spPr>
          <a:xfrm>
            <a:off x="6748272" y="1115568"/>
            <a:ext cx="19659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&gt;2×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5"/>
          <p:cNvSpPr/>
          <p:nvPr/>
        </p:nvSpPr>
        <p:spPr>
          <a:xfrm>
            <a:off x="6793992" y="1591056"/>
            <a:ext cx="1874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Code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maintained to c=16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5"/>
          <p:cNvSpPr/>
          <p:nvPr/>
        </p:nvSpPr>
        <p:spPr>
          <a:xfrm>
            <a:off x="384048" y="2212848"/>
            <a:ext cx="4160520" cy="260604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5"/>
          <p:cNvSpPr/>
          <p:nvPr/>
        </p:nvSpPr>
        <p:spPr>
          <a:xfrm>
            <a:off x="475488" y="2304288"/>
            <a:ext cx="3977640" cy="242316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5"/>
          <p:cNvSpPr/>
          <p:nvPr/>
        </p:nvSpPr>
        <p:spPr>
          <a:xfrm>
            <a:off x="384048" y="3314700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5"/>
          <p:cNvSpPr/>
          <p:nvPr/>
        </p:nvSpPr>
        <p:spPr>
          <a:xfrm>
            <a:off x="384048" y="2350008"/>
            <a:ext cx="4160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L4 TPS: Baseline vs EAGLE-3 — all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5"/>
          <p:cNvSpPr/>
          <p:nvPr/>
        </p:nvSpPr>
        <p:spPr>
          <a:xfrm>
            <a:off x="4709160" y="2212848"/>
            <a:ext cx="4050792" cy="26060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25"/>
          <p:cNvSpPr/>
          <p:nvPr/>
        </p:nvSpPr>
        <p:spPr>
          <a:xfrm>
            <a:off x="4709160" y="2212848"/>
            <a:ext cx="45720" cy="26060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5"/>
          <p:cNvSpPr/>
          <p:nvPr/>
        </p:nvSpPr>
        <p:spPr>
          <a:xfrm>
            <a:off x="4892040" y="2331720"/>
            <a:ext cx="3703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Why L4 matches A100's relative gain?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5"/>
          <p:cNvSpPr/>
          <p:nvPr/>
        </p:nvSpPr>
        <p:spPr>
          <a:xfrm>
            <a:off x="4919472" y="2816352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5"/>
          <p:cNvSpPr/>
          <p:nvPr/>
        </p:nvSpPr>
        <p:spPr>
          <a:xfrm>
            <a:off x="5047488" y="2779776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L4 is ~5× more memory-bandwidth constrained (300 vs 1,555 GB/s). Baseline TPOT is 59 ms vs 11 ms on A100.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5"/>
          <p:cNvSpPr/>
          <p:nvPr/>
        </p:nvSpPr>
        <p:spPr>
          <a:xfrm>
            <a:off x="4919472" y="32095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5"/>
          <p:cNvSpPr/>
          <p:nvPr/>
        </p:nvSpPr>
        <p:spPr>
          <a:xfrm>
            <a:off x="5047488" y="3172968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Token-batching from spec dec alleviates bandwidth bottleneck proportionally — same relative relief, similar relative gain.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5"/>
          <p:cNvSpPr/>
          <p:nvPr/>
        </p:nvSpPr>
        <p:spPr>
          <a:xfrm>
            <a:off x="4919472" y="3602736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5"/>
          <p:cNvSpPr/>
          <p:nvPr/>
        </p:nvSpPr>
        <p:spPr>
          <a:xfrm>
            <a:off x="5047488" y="3566160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Chat speedup peaks at c=16 (2.28×) rather than c=8 — the L4 needs more concurrency to batch efficiently.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5"/>
          <p:cNvSpPr/>
          <p:nvPr/>
        </p:nvSpPr>
        <p:spPr>
          <a:xfrm>
            <a:off x="4919472" y="3995928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5"/>
          <p:cNvSpPr/>
          <p:nvPr/>
        </p:nvSpPr>
        <p:spPr>
          <a:xfrm>
            <a:off x="5047488" y="3959352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No crossover within c=32. Eagle3 always faster on L4.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5"/>
          <p:cNvSpPr/>
          <p:nvPr/>
        </p:nvSpPr>
        <p:spPr>
          <a:xfrm>
            <a:off x="4919472" y="4389120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5"/>
          <p:cNvSpPr/>
          <p:nvPr/>
        </p:nvSpPr>
        <p:spPr>
          <a:xfrm>
            <a:off x="5047488" y="4352544"/>
            <a:ext cx="35478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Sequential server startup required (24 GB VRAM not enough for both servers simultaneously).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6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L4 — All Tasks Detail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6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Code 2.91× at c=4 — single highest speedup in entire study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6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405" name="Google Shape;405;p26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685800"/>
                <a:gridCol w="1143000"/>
                <a:gridCol w="804675"/>
                <a:gridCol w="658375"/>
                <a:gridCol w="960125"/>
                <a:gridCol w="749800"/>
              </a:tblGrid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 ± 89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59.23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 ± 292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38.71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25.3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175 ± 52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62.34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234 ± 71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29.06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0.363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2.25×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393 ± 236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71.26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13.7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564 ± 231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37.10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25.7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1.87×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6" name="Google Shape;406;p26"/>
          <p:cNvGraphicFramePr/>
          <p:nvPr/>
        </p:nvGraphicFramePr>
        <p:xfrm>
          <a:off x="384048" y="330098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685800"/>
                <a:gridCol w="1143000"/>
                <a:gridCol w="804675"/>
                <a:gridCol w="658375"/>
                <a:gridCol w="960125"/>
                <a:gridCol w="749800"/>
              </a:tblGrid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76.6 ± 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59.18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96.6 ± 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20.27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2.88×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 ± 66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61.59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183 ± 83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20.73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46.9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0.434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2.91×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417 ± 295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72.20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13.6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605 ± 292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32.74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2.11×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7" name="Google Shape;407;p26"/>
          <p:cNvGraphicFramePr/>
          <p:nvPr/>
        </p:nvGraphicFramePr>
        <p:xfrm>
          <a:off x="384048" y="552297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411475"/>
                <a:gridCol w="685800"/>
                <a:gridCol w="1143000"/>
                <a:gridCol w="804675"/>
                <a:gridCol w="658375"/>
                <a:gridCol w="960125"/>
                <a:gridCol w="749800"/>
              </a:tblGrid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Summarization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Accept.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107 ± 54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59.38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129 ± 55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24.08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40.1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2.40×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 ± 130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62.81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15.6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295 ± 172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28.58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32.7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0.499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2.10×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659 ± 638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76.18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12.4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017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845 ± 657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45.80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19.5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0.485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00"/>
                        <a:buFont typeface="Calibri"/>
                        <a:buNone/>
                      </a:pPr>
                      <a:r>
                        <a:rPr lang="en" sz="10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1.57×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408" name="Google Shape;408;p26"/>
          <p:cNvSpPr/>
          <p:nvPr/>
        </p:nvSpPr>
        <p:spPr>
          <a:xfrm>
            <a:off x="5989320" y="1078992"/>
            <a:ext cx="2788920" cy="370332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6"/>
          <p:cNvSpPr/>
          <p:nvPr/>
        </p:nvSpPr>
        <p:spPr>
          <a:xfrm>
            <a:off x="6080760" y="1170432"/>
            <a:ext cx="2606040" cy="352044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26"/>
          <p:cNvSpPr/>
          <p:nvPr/>
        </p:nvSpPr>
        <p:spPr>
          <a:xfrm>
            <a:off x="5989320" y="2729484"/>
            <a:ext cx="2788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6"/>
          <p:cNvSpPr/>
          <p:nvPr/>
        </p:nvSpPr>
        <p:spPr>
          <a:xfrm>
            <a:off x="5989320" y="1216152"/>
            <a:ext cx="2788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L4 speedup by task &amp; concurrency (heatmap or grouped line)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6"/>
          <p:cNvSpPr/>
          <p:nvPr/>
        </p:nvSpPr>
        <p:spPr>
          <a:xfrm>
            <a:off x="5989320" y="4919472"/>
            <a:ext cx="2788920" cy="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26"/>
          <p:cNvSpPr/>
          <p:nvPr/>
        </p:nvSpPr>
        <p:spPr>
          <a:xfrm>
            <a:off x="5989320" y="468172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L4 Code: TPOT 59 ms → 20 ms = 2.92× per-token. Same ratio as A100 (2.95×). Hardware-agnostic.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7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347472" y="1737360"/>
            <a:ext cx="8503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3000"/>
              <a:buFont typeface="Calibri"/>
              <a:buNone/>
            </a:pPr>
            <a:r>
              <a:rPr b="1" i="0" lang="en" sz="3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Mac Results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8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Mac Architecture: Why It Behaves Differently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8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The scheduler — not the algorithm — determines concurrency behavior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8" name="Google Shape;428;p28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9" name="Google Shape;429;p28"/>
          <p:cNvSpPr/>
          <p:nvPr/>
        </p:nvSpPr>
        <p:spPr>
          <a:xfrm>
            <a:off x="384048" y="1051560"/>
            <a:ext cx="4005072" cy="315468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28"/>
          <p:cNvSpPr/>
          <p:nvPr/>
        </p:nvSpPr>
        <p:spPr>
          <a:xfrm>
            <a:off x="384048" y="1051560"/>
            <a:ext cx="45720" cy="315468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8"/>
          <p:cNvSpPr/>
          <p:nvPr/>
        </p:nvSpPr>
        <p:spPr>
          <a:xfrm>
            <a:off x="566928" y="1170432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vLLM (A100 / L4)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8"/>
          <p:cNvSpPr/>
          <p:nvPr/>
        </p:nvSpPr>
        <p:spPr>
          <a:xfrm>
            <a:off x="594360" y="16093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749808" y="1572768"/>
            <a:ext cx="3493008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All N requests run draft simultaneously (batched)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/>
          <p:nvPr/>
        </p:nvSpPr>
        <p:spPr>
          <a:xfrm>
            <a:off x="594360" y="20665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8"/>
          <p:cNvSpPr/>
          <p:nvPr/>
        </p:nvSpPr>
        <p:spPr>
          <a:xfrm>
            <a:off x="749808" y="2029968"/>
            <a:ext cx="3493008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Verifier runs on all N draft sequences in one pass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8"/>
          <p:cNvSpPr/>
          <p:nvPr/>
        </p:nvSpPr>
        <p:spPr>
          <a:xfrm>
            <a:off x="594360" y="25237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8"/>
          <p:cNvSpPr/>
          <p:nvPr/>
        </p:nvSpPr>
        <p:spPr>
          <a:xfrm>
            <a:off x="749808" y="2487168"/>
            <a:ext cx="3493008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Accept/reject for all requests in parallel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/>
          <p:nvPr/>
        </p:nvSpPr>
        <p:spPr>
          <a:xfrm>
            <a:off x="594360" y="29809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8"/>
          <p:cNvSpPr/>
          <p:nvPr/>
        </p:nvSpPr>
        <p:spPr>
          <a:xfrm>
            <a:off x="749808" y="2944368"/>
            <a:ext cx="3493008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Overhead per request decreases with concurrency (amortized)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8"/>
          <p:cNvSpPr/>
          <p:nvPr/>
        </p:nvSpPr>
        <p:spPr>
          <a:xfrm>
            <a:off x="594360" y="3438144"/>
            <a:ext cx="45720" cy="219456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28"/>
          <p:cNvSpPr/>
          <p:nvPr/>
        </p:nvSpPr>
        <p:spPr>
          <a:xfrm>
            <a:off x="749808" y="3401568"/>
            <a:ext cx="3493008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TTFT stays stable as concurrency rises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/>
          <p:nvPr/>
        </p:nvSpPr>
        <p:spPr>
          <a:xfrm>
            <a:off x="566928" y="385876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→ Crossover never reached on GPU (c ≤ 32)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8"/>
          <p:cNvSpPr/>
          <p:nvPr/>
        </p:nvSpPr>
        <p:spPr>
          <a:xfrm>
            <a:off x="4754880" y="1051560"/>
            <a:ext cx="4005072" cy="315468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8"/>
          <p:cNvSpPr/>
          <p:nvPr/>
        </p:nvSpPr>
        <p:spPr>
          <a:xfrm>
            <a:off x="4754880" y="1051560"/>
            <a:ext cx="45720" cy="3154680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28"/>
          <p:cNvSpPr/>
          <p:nvPr/>
        </p:nvSpPr>
        <p:spPr>
          <a:xfrm>
            <a:off x="4937760" y="1170432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4444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9B4444"/>
                </a:solidFill>
                <a:latin typeface="Calibri"/>
                <a:ea typeface="Calibri"/>
                <a:cs typeface="Calibri"/>
                <a:sym typeface="Calibri"/>
              </a:rPr>
              <a:t>MLX-LM (Mac)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8"/>
          <p:cNvSpPr/>
          <p:nvPr/>
        </p:nvSpPr>
        <p:spPr>
          <a:xfrm>
            <a:off x="4782312" y="1609344"/>
            <a:ext cx="45720" cy="219456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8"/>
          <p:cNvSpPr/>
          <p:nvPr/>
        </p:nvSpPr>
        <p:spPr>
          <a:xfrm>
            <a:off x="4937760" y="157276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Request 1: run draft → verify → emit — done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8"/>
          <p:cNvSpPr/>
          <p:nvPr/>
        </p:nvSpPr>
        <p:spPr>
          <a:xfrm>
            <a:off x="4782312" y="2066544"/>
            <a:ext cx="45720" cy="219456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28"/>
          <p:cNvSpPr/>
          <p:nvPr/>
        </p:nvSpPr>
        <p:spPr>
          <a:xfrm>
            <a:off x="4937760" y="202996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Request 2: WAIT for request 1 to finish entirely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8"/>
          <p:cNvSpPr/>
          <p:nvPr/>
        </p:nvSpPr>
        <p:spPr>
          <a:xfrm>
            <a:off x="4782312" y="2523744"/>
            <a:ext cx="45720" cy="219456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8"/>
          <p:cNvSpPr/>
          <p:nvPr/>
        </p:nvSpPr>
        <p:spPr>
          <a:xfrm>
            <a:off x="4937760" y="248716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Request N: waits for all N−1 prior requests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8"/>
          <p:cNvSpPr/>
          <p:nvPr/>
        </p:nvSpPr>
        <p:spPr>
          <a:xfrm>
            <a:off x="4782312" y="2980944"/>
            <a:ext cx="45720" cy="219456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8"/>
          <p:cNvSpPr/>
          <p:nvPr/>
        </p:nvSpPr>
        <p:spPr>
          <a:xfrm>
            <a:off x="4937760" y="294436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Overhead per request increases linearly with queue depth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8"/>
          <p:cNvSpPr/>
          <p:nvPr/>
        </p:nvSpPr>
        <p:spPr>
          <a:xfrm>
            <a:off x="4782312" y="3438144"/>
            <a:ext cx="45720" cy="219456"/>
          </a:xfrm>
          <a:prstGeom prst="rect">
            <a:avLst/>
          </a:prstGeom>
          <a:solidFill>
            <a:srgbClr val="9B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28"/>
          <p:cNvSpPr/>
          <p:nvPr/>
        </p:nvSpPr>
        <p:spPr>
          <a:xfrm>
            <a:off x="4937760" y="3401568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TTFT = (N−1) × full pipeline time for request 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8"/>
          <p:cNvSpPr/>
          <p:nvPr/>
        </p:nvSpPr>
        <p:spPr>
          <a:xfrm>
            <a:off x="4937760" y="385876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444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9B4444"/>
                </a:solidFill>
                <a:latin typeface="Calibri"/>
                <a:ea typeface="Calibri"/>
                <a:cs typeface="Calibri"/>
                <a:sym typeface="Calibri"/>
              </a:rPr>
              <a:t>→ TTFT explodes 25–35× at c=4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8"/>
          <p:cNvSpPr/>
          <p:nvPr/>
        </p:nvSpPr>
        <p:spPr>
          <a:xfrm>
            <a:off x="384048" y="4315968"/>
            <a:ext cx="8375904" cy="59436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8"/>
          <p:cNvSpPr/>
          <p:nvPr/>
        </p:nvSpPr>
        <p:spPr>
          <a:xfrm>
            <a:off x="566928" y="4407408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Key: at c=1 both systems behave identically (no queue). Mac c=1 results are genuine and meaningful. All regressions are a scheduling artifact, not a property of speculative decoding theory.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9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Mac — All Tasks Full Data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9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c=1 genuine speedup · c≥4 TTFT catastrophe — green = spec faster, red = regression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6" name="Google Shape;466;p29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467" name="Google Shape;467;p29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822950"/>
                <a:gridCol w="365750"/>
                <a:gridCol w="804675"/>
                <a:gridCol w="731525"/>
                <a:gridCol w="1828800"/>
                <a:gridCol w="914400"/>
                <a:gridCol w="804675"/>
              </a:tblGrid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TTFT (ms)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TPOT (ms)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950"/>
                        <a:buFont typeface="Calibri"/>
                        <a:buNone/>
                      </a:pPr>
                      <a:r>
                        <a:rPr b="1" lang="en" sz="9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Speedup</a:t>
                      </a:r>
                      <a:endParaRPr sz="9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19.98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399 ± 249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48.0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28.04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335 ± 62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34.4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14.71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313 ± 58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68.6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9.27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10,983 ± 4511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37.5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0.63×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9.37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563 ± 181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132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7.09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20,007 ± 11461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37.0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5.79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828 ± 75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167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6.82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21,774 ± 13273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36.1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1.18×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18.14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681 ± 289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51.5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27.68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680 ± 113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31.3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1.53×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13.20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312 ± 58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76.5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11.95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9,055 ± 4106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29.4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8.93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642 ± 223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140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9.49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15,690 ± 9533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1.06×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14.03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2,095 ± 147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52.6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16.65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2,474 ± 567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40.1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1.19×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12.93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484 ± 106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74.8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8.68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12,238 ± 5576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39.0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0.67×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7.24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779 ± 95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260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MLX Spec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7.29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21,335 ± 13921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41.6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980"/>
                        <a:buFont typeface="Calibri"/>
                        <a:buNone/>
                      </a:pPr>
                      <a:r>
                        <a:rPr lang="en" sz="98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1.01×</a:t>
                      </a:r>
                      <a:endParaRPr sz="98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</a:tbl>
          </a:graphicData>
        </a:graphic>
      </p:graphicFrame>
      <p:sp>
        <p:nvSpPr>
          <p:cNvPr id="468" name="Google Shape;468;p29"/>
          <p:cNvSpPr/>
          <p:nvPr/>
        </p:nvSpPr>
        <p:spPr>
          <a:xfrm>
            <a:off x="384048" y="6419088"/>
            <a:ext cx="8375904" cy="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9"/>
          <p:cNvSpPr/>
          <p:nvPr/>
        </p:nvSpPr>
        <p:spPr>
          <a:xfrm flipH="1" rot="10800000">
            <a:off x="475488" y="6327648"/>
            <a:ext cx="8193024" cy="1828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29"/>
          <p:cNvSpPr/>
          <p:nvPr/>
        </p:nvSpPr>
        <p:spPr>
          <a:xfrm>
            <a:off x="384048" y="6217920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9"/>
          <p:cNvSpPr/>
          <p:nvPr/>
        </p:nvSpPr>
        <p:spPr>
          <a:xfrm>
            <a:off x="384048" y="4800600"/>
            <a:ext cx="83759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Note: TTFT std ≈ mean at c≥8 (CV 41–188%) indicates extreme per-request unfairness. One user gets served in &lt;1s; another waits 45s. Baseline TTFT is stable (CV 8–9%).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0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Mac — Where Spec Decoding Wins and Fails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0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c=1 is always beneficial. c≥4 TTFT collapses regardless of TPS speedup.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9" name="Google Shape;479;p30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480" name="Google Shape;480;p30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914400"/>
                <a:gridCol w="1280150"/>
                <a:gridCol w="1280150"/>
                <a:gridCol w="1280150"/>
                <a:gridCol w="1280150"/>
                <a:gridCol w="1280150"/>
                <a:gridCol w="10607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c=16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c=32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Crossover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0.63× 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0.76× 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1.18×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1.18×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c=8→c=16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1.53×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0.91× 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8863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B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1.06× ~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1.73×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1.82×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8863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B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c=4→c=8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1.19×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0.67× 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8863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B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1.01× ~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1.12×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1.51× ✓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8863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B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c=4→c=8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481" name="Google Shape;481;p30"/>
          <p:cNvSpPr/>
          <p:nvPr/>
        </p:nvSpPr>
        <p:spPr>
          <a:xfrm>
            <a:off x="384048" y="3200400"/>
            <a:ext cx="83759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✓ = TPS faster · ✗ = TPS regression · ~ = approximately equal. Even ✓ cells at c≥4 have TTFT 19–35× worse than baseline — throughput gains do not translate to user-perceived latency improvement.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0"/>
          <p:cNvSpPr/>
          <p:nvPr/>
        </p:nvSpPr>
        <p:spPr>
          <a:xfrm>
            <a:off x="384048" y="3584448"/>
            <a:ext cx="8375904" cy="987552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30"/>
          <p:cNvSpPr/>
          <p:nvPr/>
        </p:nvSpPr>
        <p:spPr>
          <a:xfrm>
            <a:off x="475488" y="3675888"/>
            <a:ext cx="8193024" cy="804672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30"/>
          <p:cNvSpPr/>
          <p:nvPr/>
        </p:nvSpPr>
        <p:spPr>
          <a:xfrm>
            <a:off x="384048" y="3877056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0"/>
          <p:cNvSpPr/>
          <p:nvPr/>
        </p:nvSpPr>
        <p:spPr>
          <a:xfrm>
            <a:off x="384048" y="3721608"/>
            <a:ext cx="83759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Mac TTFT: Baseline vs Spec Dec — all tasks vs concurrency (log scale recommended)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0"/>
          <p:cNvSpPr/>
          <p:nvPr/>
        </p:nvSpPr>
        <p:spPr>
          <a:xfrm>
            <a:off x="384048" y="4663440"/>
            <a:ext cx="4023360" cy="29260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30"/>
          <p:cNvSpPr/>
          <p:nvPr/>
        </p:nvSpPr>
        <p:spPr>
          <a:xfrm>
            <a:off x="475488" y="4700016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Rule: Never use Mac MLX spec dec beyond c=1.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0"/>
          <p:cNvSpPr/>
          <p:nvPr/>
        </p:nvSpPr>
        <p:spPr>
          <a:xfrm>
            <a:off x="4736592" y="4663440"/>
            <a:ext cx="4023360" cy="29260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30"/>
          <p:cNvSpPr/>
          <p:nvPr/>
        </p:nvSpPr>
        <p:spPr>
          <a:xfrm>
            <a:off x="4828032" y="4700016"/>
            <a:ext cx="3840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TPOT always improves — streaming is smoother once started.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1"/>
          <p:cNvSpPr/>
          <p:nvPr/>
        </p:nvSpPr>
        <p:spPr>
          <a:xfrm>
            <a:off x="347472" y="1737360"/>
            <a:ext cx="8503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3000"/>
              <a:buFont typeface="Calibri"/>
              <a:buNone/>
            </a:pPr>
            <a:r>
              <a:rPr b="1" i="0" lang="en" sz="3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Cross-Platform Comparison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1"/>
          <p:cNvSpPr/>
          <p:nvPr/>
        </p:nvSpPr>
        <p:spPr>
          <a:xfrm>
            <a:off x="347472" y="2542032"/>
            <a:ext cx="8503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rates · TTFT tradeoffs · Cost analysis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32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Speedup Heatmap — All Hardware × Task × Concurrency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4" name="Google Shape;504;p32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505" name="Google Shape;505;p32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713225"/>
                <a:gridCol w="886975"/>
                <a:gridCol w="886975"/>
                <a:gridCol w="886975"/>
                <a:gridCol w="749800"/>
                <a:gridCol w="749800"/>
                <a:gridCol w="749800"/>
                <a:gridCol w="749800"/>
                <a:gridCol w="749800"/>
                <a:gridCol w="777250"/>
              </a:tblGrid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Calibri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c=32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 c=1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 c=4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 c=8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1.31×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1.98×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1.59×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2.25×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1.87×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0.63×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2.87×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2.38×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1.80×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2.88×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2.79×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2.11×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1.53×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0.91×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1.06×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5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200"/>
                        <a:buFont typeface="Calibri"/>
                        <a:buNone/>
                      </a:pPr>
                      <a:r>
                        <a:rPr lang="en" sz="12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2.33×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1.77×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1.33×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2.40×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2.10×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1.57×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1.19×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0.67×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" sz="12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1.01×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506" name="Google Shape;506;p32"/>
          <p:cNvSpPr/>
          <p:nvPr/>
        </p:nvSpPr>
        <p:spPr>
          <a:xfrm>
            <a:off x="384048" y="2852928"/>
            <a:ext cx="83759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Color: green = 2.5×+ · blue = 1.5–2.5× · gray = 1.0–1.5× · red = regression (&lt;1.0). Mac regressions at c=4 are scheduling failures, not algorithm failures.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2"/>
          <p:cNvSpPr/>
          <p:nvPr/>
        </p:nvSpPr>
        <p:spPr>
          <a:xfrm>
            <a:off x="384048" y="3246120"/>
            <a:ext cx="8375904" cy="1572768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32"/>
          <p:cNvSpPr/>
          <p:nvPr/>
        </p:nvSpPr>
        <p:spPr>
          <a:xfrm>
            <a:off x="475488" y="3337560"/>
            <a:ext cx="8193024" cy="1389888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32"/>
          <p:cNvSpPr/>
          <p:nvPr/>
        </p:nvSpPr>
        <p:spPr>
          <a:xfrm>
            <a:off x="384048" y="3831336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2"/>
          <p:cNvSpPr/>
          <p:nvPr/>
        </p:nvSpPr>
        <p:spPr>
          <a:xfrm>
            <a:off x="384048" y="3383280"/>
            <a:ext cx="83759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Side-by-side speedup line chart: A100 vs L4 vs Mac — by task or combined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3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Acceptance Rate Analysis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3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Hardware-agnostic — A100 and L4 produce identical rates for same task/concurrency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8" name="Google Shape;518;p33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519" name="Google Shape;519;p33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731525"/>
                <a:gridCol w="1143000"/>
                <a:gridCol w="1143000"/>
                <a:gridCol w="1143000"/>
                <a:gridCol w="914400"/>
                <a:gridCol w="914400"/>
                <a:gridCol w="914400"/>
                <a:gridCol w="1289300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c=32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c=32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Trend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0.358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0.419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0.363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Rapidly ↑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0.447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0.427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0.448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Slowly ↑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0.485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0.504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0.499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0.485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Gently ↓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520" name="Google Shape;520;p33"/>
          <p:cNvSpPr/>
          <p:nvPr/>
        </p:nvSpPr>
        <p:spPr>
          <a:xfrm>
            <a:off x="384048" y="2788920"/>
            <a:ext cx="2633472" cy="201168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33"/>
          <p:cNvSpPr/>
          <p:nvPr/>
        </p:nvSpPr>
        <p:spPr>
          <a:xfrm>
            <a:off x="384048" y="2788920"/>
            <a:ext cx="45720" cy="201168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3"/>
          <p:cNvSpPr/>
          <p:nvPr/>
        </p:nvSpPr>
        <p:spPr>
          <a:xfrm>
            <a:off x="566928" y="290779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Chat rises 0.19 → 0.42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33"/>
          <p:cNvSpPr/>
          <p:nvPr/>
        </p:nvSpPr>
        <p:spPr>
          <a:xfrm>
            <a:off x="566928" y="3310128"/>
            <a:ext cx="2331720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At low concurrency, creative responses are hard to predict. At high concurrency, batch coherence groups similar questions together — draft accuracy climbs dramatically.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3"/>
          <p:cNvSpPr/>
          <p:nvPr/>
        </p:nvSpPr>
        <p:spPr>
          <a:xfrm>
            <a:off x="3200400" y="2788920"/>
            <a:ext cx="2633472" cy="201168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33"/>
          <p:cNvSpPr/>
          <p:nvPr/>
        </p:nvSpPr>
        <p:spPr>
          <a:xfrm>
            <a:off x="3200400" y="2788920"/>
            <a:ext cx="45720" cy="201168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3"/>
          <p:cNvSpPr/>
          <p:nvPr/>
        </p:nvSpPr>
        <p:spPr>
          <a:xfrm>
            <a:off x="3383280" y="290779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Code rises slowly (42 → 50%)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33"/>
          <p:cNvSpPr/>
          <p:nvPr/>
        </p:nvSpPr>
        <p:spPr>
          <a:xfrm>
            <a:off x="3383280" y="3310128"/>
            <a:ext cx="2331720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Already highly structured at c=1. Large batches reinforce structural patterns (function defs, returns) slightly more. Very consistent across hardware.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3"/>
          <p:cNvSpPr/>
          <p:nvPr/>
        </p:nvSpPr>
        <p:spPr>
          <a:xfrm>
            <a:off x="6016752" y="2788920"/>
            <a:ext cx="2633472" cy="201168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33"/>
          <p:cNvSpPr/>
          <p:nvPr/>
        </p:nvSpPr>
        <p:spPr>
          <a:xfrm>
            <a:off x="6016752" y="2788920"/>
            <a:ext cx="45720" cy="201168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33"/>
          <p:cNvSpPr/>
          <p:nvPr/>
        </p:nvSpPr>
        <p:spPr>
          <a:xfrm>
            <a:off x="6199632" y="2907792"/>
            <a:ext cx="2331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Summarization gently falls (50 → 48%)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3"/>
          <p:cNvSpPr/>
          <p:nvPr/>
        </p:nvSpPr>
        <p:spPr>
          <a:xfrm>
            <a:off x="6199632" y="3310128"/>
            <a:ext cx="2331720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Highest base rate. At high concurrency, batched verification slightly misaligns with individual sequence patterns — minor decay only.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33"/>
          <p:cNvSpPr/>
          <p:nvPr/>
        </p:nvSpPr>
        <p:spPr>
          <a:xfrm>
            <a:off x="384048" y="4919472"/>
            <a:ext cx="83759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Acceptance rates are hardware-agnostic: A100 and L4 produce nearly identical rates — confirming it is a property of the model pair and input distribution, not the GPU.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34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TTFT Trade-off: When Does the First Token Overhead Matter?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9" name="Google Shape;539;p34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540" name="Google Shape;540;p34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713225"/>
                <a:gridCol w="685800"/>
                <a:gridCol w="411475"/>
                <a:gridCol w="1234450"/>
                <a:gridCol w="1234450"/>
                <a:gridCol w="914400"/>
                <a:gridCol w="2907800"/>
              </a:tblGrid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TTFT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 TTFT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Overhead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913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2.9×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Significant for interactive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47.7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914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19×!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Scheduling bubble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106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≈ 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Gap vanishes at c≥8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28.3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36.0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1.27×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Minimal — negligible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36.8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45.2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1.23×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Minimal — negligible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266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2.08×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 for interactive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76.6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96.6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1.26×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Minimal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399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335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−16%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BETTER — draft starts faster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383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10,983 ms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35×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B4444"/>
                        </a:buClr>
                        <a:buSzPts val="1050"/>
                        <a:buFont typeface="Calibri"/>
                        <a:buNone/>
                      </a:pPr>
                      <a:r>
                        <a:rPr lang="en" sz="1050" u="none" cap="none" strike="noStrike">
                          <a:solidFill>
                            <a:srgbClr val="9B444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Catastrophic queuing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541" name="Google Shape;541;p34"/>
          <p:cNvSpPr/>
          <p:nvPr/>
        </p:nvSpPr>
        <p:spPr>
          <a:xfrm>
            <a:off x="384048" y="4343400"/>
            <a:ext cx="8375904" cy="594360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34"/>
          <p:cNvSpPr/>
          <p:nvPr/>
        </p:nvSpPr>
        <p:spPr>
          <a:xfrm>
            <a:off x="475488" y="4434840"/>
            <a:ext cx="8193024" cy="41148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40475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34"/>
          <p:cNvSpPr/>
          <p:nvPr/>
        </p:nvSpPr>
        <p:spPr>
          <a:xfrm>
            <a:off x="384048" y="4439412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0475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404750"/>
                </a:solidFill>
                <a:latin typeface="Consolas"/>
                <a:ea typeface="Consolas"/>
                <a:cs typeface="Consolas"/>
                <a:sym typeface="Consolas"/>
              </a:rPr>
              <a:t>[ INSERT GRAPH ]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34"/>
          <p:cNvSpPr/>
          <p:nvPr/>
        </p:nvSpPr>
        <p:spPr>
          <a:xfrm>
            <a:off x="384048" y="4480560"/>
            <a:ext cx="83759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TTFT comparison: Eagle3 vs Baseline for chat/code/summ at c=1 and c=8 (grouped bar)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4"/>
          <p:cNvSpPr/>
          <p:nvPr/>
        </p:nvSpPr>
        <p:spPr>
          <a:xfrm>
            <a:off x="384048" y="5029200"/>
            <a:ext cx="8375904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050"/>
              <a:buFont typeface="Calibri"/>
              <a:buNone/>
            </a:pPr>
            <a:r>
              <a:rPr b="0" i="0" lang="en" sz="105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Recommendation: For code/summarization enable Eagle3 unconditionally — TTFT overhead &lt;30%, total latency 2–3× better. For chat at c=1, assess whether +600ms TTFT matters for your use case.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35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Cost Analysis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5"/>
          <p:cNvSpPr/>
          <p:nvPr/>
        </p:nvSpPr>
        <p:spPr>
          <a:xfrm>
            <a:off x="438912" y="69494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480"/>
              </a:buClr>
              <a:buSzPts val="1100"/>
              <a:buFont typeface="Calibri"/>
              <a:buNone/>
            </a:pPr>
            <a:r>
              <a:rPr b="0" i="1" lang="en" sz="1100" u="none" cap="none" strike="noStrike">
                <a:solidFill>
                  <a:srgbClr val="6B7480"/>
                </a:solidFill>
                <a:latin typeface="Calibri"/>
                <a:ea typeface="Calibri"/>
                <a:cs typeface="Calibri"/>
                <a:sym typeface="Calibri"/>
              </a:rPr>
              <a:t>Eagle3 saves 40.7% on A100 and 50.6% on L4 — throughput gain directly reduces GPU-seconds per token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3" name="Google Shape;553;p35"/>
          <p:cNvCxnSpPr/>
          <p:nvPr/>
        </p:nvCxnSpPr>
        <p:spPr>
          <a:xfrm>
            <a:off x="438912" y="932688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554" name="Google Shape;554;p35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1005850"/>
                <a:gridCol w="1005850"/>
                <a:gridCol w="2103125"/>
                <a:gridCol w="1719075"/>
                <a:gridCol w="2176275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System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Cost (549 req)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/ Request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Savings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$1.4403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$0.002623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48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6B74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$0.8541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$0.001556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" sz="11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40.7% cheaper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$1.4941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$0.002721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48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6B74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Eagle3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$0.7375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$0.001344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50"/>
                        <a:buFont typeface="Calibri"/>
                        <a:buNone/>
                      </a:pPr>
                      <a:r>
                        <a:rPr b="1" lang="en" sz="115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50.6% cheaper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Both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480"/>
                        </a:buClr>
                        <a:buSzPts val="1150"/>
                        <a:buFont typeface="Calibri"/>
                        <a:buNone/>
                      </a:pPr>
                      <a:r>
                        <a:rPr lang="en" sz="1150" u="none" cap="none" strike="noStrike">
                          <a:solidFill>
                            <a:srgbClr val="6B74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N/A (local)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555" name="Google Shape;555;p35"/>
          <p:cNvSpPr/>
          <p:nvPr/>
        </p:nvSpPr>
        <p:spPr>
          <a:xfrm>
            <a:off x="384048" y="3364992"/>
            <a:ext cx="8375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Cost-Performance Frontier — Code Generation, c=4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56" name="Google Shape;556;p35"/>
          <p:cNvGraphicFramePr/>
          <p:nvPr/>
        </p:nvGraphicFramePr>
        <p:xfrm>
          <a:off x="384048" y="373075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2194550"/>
                <a:gridCol w="1371600"/>
                <a:gridCol w="1645925"/>
                <a:gridCol w="3895350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Configuration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TPS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/ Request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" sz="105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Notes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+ Eagle3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242.1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$0.00104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overall price-performance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+ Eagle3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46.9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$0.00098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B8EBC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B8EB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Cheapest per request — ideal for cost-sensitive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 Baseline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90.8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$0.00287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Fastest absolute; most expensive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 Baseline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16.1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$0.00294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Most expensive relative to throughput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 Spec (c=1)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27.7 TPS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Free; single-user only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36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Optimal Operating Points — Deployment Guide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63" name="Google Shape;563;p36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564" name="Google Shape;564;p36"/>
          <p:cNvGraphicFramePr/>
          <p:nvPr/>
        </p:nvGraphicFramePr>
        <p:xfrm>
          <a:off x="384048" y="1078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{9505EBAA-17DA-4C89-B833-126CB19C52F5}</a:tableStyleId>
              </a:tblPr>
              <a:tblGrid>
                <a:gridCol w="868675"/>
                <a:gridCol w="804675"/>
                <a:gridCol w="1645925"/>
                <a:gridCol w="4690875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Platform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Speedup 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Recommendation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c=8 (1.98×)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Run at 8–16 concurrent users for best ratio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(2.87×)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Deploy for low-latency single-user code tools — sub-1s response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A100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(2.33×)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at c=1–4; long inputs hurt at higher concurrency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c=16 (2.28×)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Sweet spot at 8–16 concurrent users; 2.12× at c=4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c=4 (2.91×)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Excellent across all concurrencies; &gt;2× maintained to c=16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(2.40×)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 at c=1; still 1.57× at c=32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(1.40×)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Single-user only. Regressions at c=4 AND c=8. Never use c≥4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(1.53×)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Single-user best. Regression at c=4 (0.91×); avoid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D333D"/>
                    </a:solidFill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ECF0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E8EC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Summ.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A8C6A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" sz="1100" u="none" cap="none" strike="noStrike">
                          <a:solidFill>
                            <a:srgbClr val="4A8C6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c=1 (1.19×)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8B2BE"/>
                        </a:buClr>
                        <a:buSzPts val="1100"/>
                        <a:buFont typeface="Calibri"/>
                        <a:buNone/>
                      </a:pPr>
                      <a:r>
                        <a:rPr lang="en" sz="1100" u="none" cap="none" strike="noStrike">
                          <a:solidFill>
                            <a:srgbClr val="A8B2B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Single-user; TTFT worse (+18%). Caution if latency-sensitive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83F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62B33"/>
                    </a:solidFill>
                  </a:tcPr>
                </a:tc>
              </a:tr>
            </a:tbl>
          </a:graphicData>
        </a:graphic>
      </p:graphicFrame>
      <p:sp>
        <p:nvSpPr>
          <p:cNvPr id="565" name="Google Shape;565;p36"/>
          <p:cNvSpPr/>
          <p:nvPr/>
        </p:nvSpPr>
        <p:spPr>
          <a:xfrm>
            <a:off x="384048" y="4617720"/>
            <a:ext cx="8375904" cy="347472"/>
          </a:xfrm>
          <a:prstGeom prst="rect">
            <a:avLst/>
          </a:prstGeom>
          <a:solidFill>
            <a:srgbClr val="2D333D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36"/>
          <p:cNvSpPr/>
          <p:nvPr/>
        </p:nvSpPr>
        <p:spPr>
          <a:xfrm>
            <a:off x="566928" y="4663440"/>
            <a:ext cx="801014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150"/>
              <a:buFont typeface="Calibri"/>
              <a:buNone/>
            </a:pPr>
            <a:r>
              <a:rPr b="0" i="0" lang="en" sz="115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For A100/L4: Eagle3 is the default. Always enable it. For Mac: enable only at c=1. Never enable at c≥4.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228"/>
        </a:solidFill>
      </p:bgPr>
    </p:bg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7"/>
          <p:cNvSpPr/>
          <p:nvPr/>
        </p:nvSpPr>
        <p:spPr>
          <a:xfrm>
            <a:off x="438912" y="237744"/>
            <a:ext cx="8321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2000"/>
              <a:buFont typeface="Calibri"/>
              <a:buNone/>
            </a:pPr>
            <a:r>
              <a:rPr b="1" i="0" lang="en" sz="20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Conclusions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3" name="Google Shape;573;p37"/>
          <p:cNvCxnSpPr/>
          <p:nvPr/>
        </p:nvCxnSpPr>
        <p:spPr>
          <a:xfrm>
            <a:off x="438912" y="768096"/>
            <a:ext cx="8266176" cy="0"/>
          </a:xfrm>
          <a:prstGeom prst="straightConnector1">
            <a:avLst/>
          </a:prstGeom>
          <a:noFill/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4" name="Google Shape;574;p37"/>
          <p:cNvSpPr/>
          <p:nvPr/>
        </p:nvSpPr>
        <p:spPr>
          <a:xfrm>
            <a:off x="384048" y="10789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37"/>
          <p:cNvSpPr/>
          <p:nvPr/>
        </p:nvSpPr>
        <p:spPr>
          <a:xfrm>
            <a:off x="384048" y="1078992"/>
            <a:ext cx="45720" cy="1234440"/>
          </a:xfrm>
          <a:prstGeom prst="rect">
            <a:avLst/>
          </a:prstGeom>
          <a:solidFill>
            <a:srgbClr val="4A8C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37"/>
          <p:cNvSpPr/>
          <p:nvPr/>
        </p:nvSpPr>
        <p:spPr>
          <a:xfrm>
            <a:off x="548640" y="11887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8C6A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4A8C6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7"/>
          <p:cNvSpPr/>
          <p:nvPr/>
        </p:nvSpPr>
        <p:spPr>
          <a:xfrm>
            <a:off x="1005840" y="11887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Eagle3 is unconditionally beneficial on GPU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7"/>
          <p:cNvSpPr/>
          <p:nvPr/>
        </p:nvSpPr>
        <p:spPr>
          <a:xfrm>
            <a:off x="1005840" y="15910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A100 and L4 show speedup at every concurrency level, every task. No crossover found up to c=32. Enable by default in vLLM.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7"/>
          <p:cNvSpPr/>
          <p:nvPr/>
        </p:nvSpPr>
        <p:spPr>
          <a:xfrm>
            <a:off x="384048" y="24505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7"/>
          <p:cNvSpPr/>
          <p:nvPr/>
        </p:nvSpPr>
        <p:spPr>
          <a:xfrm>
            <a:off x="384048" y="2450592"/>
            <a:ext cx="45720" cy="12344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37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7"/>
          <p:cNvSpPr/>
          <p:nvPr/>
        </p:nvSpPr>
        <p:spPr>
          <a:xfrm>
            <a:off x="1005840" y="25603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Code generation benefits most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7"/>
          <p:cNvSpPr/>
          <p:nvPr/>
        </p:nvSpPr>
        <p:spPr>
          <a:xfrm>
            <a:off x="1005840" y="29626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Up to 2.91× speedup. Structured output drives 42–50% acceptance. Any code tool should prioritize Eagle3. TPOT drops 2.9× on both A100 and L4.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37"/>
          <p:cNvSpPr/>
          <p:nvPr/>
        </p:nvSpPr>
        <p:spPr>
          <a:xfrm>
            <a:off x="384048" y="38221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5" name="Google Shape;585;p37"/>
          <p:cNvSpPr/>
          <p:nvPr/>
        </p:nvSpPr>
        <p:spPr>
          <a:xfrm>
            <a:off x="384048" y="3822192"/>
            <a:ext cx="45720" cy="1234440"/>
          </a:xfrm>
          <a:prstGeom prst="rect">
            <a:avLst/>
          </a:prstGeom>
          <a:solidFill>
            <a:srgbClr val="4B8EB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7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8EBC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4B8EB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37"/>
          <p:cNvSpPr/>
          <p:nvPr/>
        </p:nvSpPr>
        <p:spPr>
          <a:xfrm>
            <a:off x="1005840" y="39319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L4 matches A100's relative gain at ~63% lower cost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37"/>
          <p:cNvSpPr/>
          <p:nvPr/>
        </p:nvSpPr>
        <p:spPr>
          <a:xfrm>
            <a:off x="1005840" y="43342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Memory-bandwidth bottleneck on L4 is exactly what Eagle3 alleviates. L4 + Eagle3 ≈ A100 baseline performance at fraction of cost.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37"/>
          <p:cNvSpPr/>
          <p:nvPr/>
        </p:nvSpPr>
        <p:spPr>
          <a:xfrm>
            <a:off x="4709160" y="10789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7"/>
          <p:cNvSpPr/>
          <p:nvPr/>
        </p:nvSpPr>
        <p:spPr>
          <a:xfrm>
            <a:off x="4709160" y="1078992"/>
            <a:ext cx="45720" cy="123444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7"/>
          <p:cNvSpPr/>
          <p:nvPr/>
        </p:nvSpPr>
        <p:spPr>
          <a:xfrm>
            <a:off x="4873752" y="11887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7"/>
          <p:cNvSpPr/>
          <p:nvPr/>
        </p:nvSpPr>
        <p:spPr>
          <a:xfrm>
            <a:off x="5330952" y="11887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Scheduler architecture determines concurrency behavior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37"/>
          <p:cNvSpPr/>
          <p:nvPr/>
        </p:nvSpPr>
        <p:spPr>
          <a:xfrm>
            <a:off x="5330952" y="15910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vLLM batches spec dec across requests → stable at scale. MLX processes them serially → TTFT collapses 35× at c=4. Same algorithm, opposite behavior.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37"/>
          <p:cNvSpPr/>
          <p:nvPr/>
        </p:nvSpPr>
        <p:spPr>
          <a:xfrm>
            <a:off x="4709160" y="24505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37"/>
          <p:cNvSpPr/>
          <p:nvPr/>
        </p:nvSpPr>
        <p:spPr>
          <a:xfrm>
            <a:off x="4709160" y="2450592"/>
            <a:ext cx="45720" cy="1234440"/>
          </a:xfrm>
          <a:prstGeom prst="rect">
            <a:avLst/>
          </a:prstGeom>
          <a:solidFill>
            <a:srgbClr val="B886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7"/>
          <p:cNvSpPr/>
          <p:nvPr/>
        </p:nvSpPr>
        <p:spPr>
          <a:xfrm>
            <a:off x="4873752" y="25603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863A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B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7"/>
          <p:cNvSpPr/>
          <p:nvPr/>
        </p:nvSpPr>
        <p:spPr>
          <a:xfrm>
            <a:off x="5330952" y="25603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Mac spec dec is a single-user tool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37"/>
          <p:cNvSpPr/>
          <p:nvPr/>
        </p:nvSpPr>
        <p:spPr>
          <a:xfrm>
            <a:off x="5330952" y="29626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Genuine 1.19–1.53× speedup at c=1. Every task regresses at c=4. TTFT catastrophe (25–35× worse) makes c≥4 completely unusable.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37"/>
          <p:cNvSpPr/>
          <p:nvPr/>
        </p:nvSpPr>
        <p:spPr>
          <a:xfrm>
            <a:off x="4709160" y="3822192"/>
            <a:ext cx="4160520" cy="1234440"/>
          </a:xfrm>
          <a:prstGeom prst="rect">
            <a:avLst/>
          </a:prstGeom>
          <a:solidFill>
            <a:srgbClr val="262B33"/>
          </a:solidFill>
          <a:ln cap="flat" cmpd="sng" w="9525">
            <a:solidFill>
              <a:srgbClr val="383F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7"/>
          <p:cNvSpPr/>
          <p:nvPr/>
        </p:nvSpPr>
        <p:spPr>
          <a:xfrm>
            <a:off x="4709160" y="3822192"/>
            <a:ext cx="45720" cy="1234440"/>
          </a:xfrm>
          <a:prstGeom prst="rect">
            <a:avLst/>
          </a:prstGeom>
          <a:solidFill>
            <a:srgbClr val="A8B2B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37"/>
          <p:cNvSpPr/>
          <p:nvPr/>
        </p:nvSpPr>
        <p:spPr>
          <a:xfrm>
            <a:off x="4873752" y="3931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600"/>
              <a:buFont typeface="Calibri"/>
              <a:buNone/>
            </a:pPr>
            <a:r>
              <a:rPr b="1" i="0" lang="en" sz="160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37"/>
          <p:cNvSpPr/>
          <p:nvPr/>
        </p:nvSpPr>
        <p:spPr>
          <a:xfrm>
            <a:off x="5330952" y="3931920"/>
            <a:ext cx="34015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CF0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E8ECF0"/>
                </a:solidFill>
                <a:latin typeface="Calibri"/>
                <a:ea typeface="Calibri"/>
                <a:cs typeface="Calibri"/>
                <a:sym typeface="Calibri"/>
              </a:rPr>
              <a:t>Acceptance rates are hardware-agnostic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37"/>
          <p:cNvSpPr/>
          <p:nvPr/>
        </p:nvSpPr>
        <p:spPr>
          <a:xfrm>
            <a:off x="5330952" y="4334256"/>
            <a:ext cx="3401568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2BE"/>
              </a:buClr>
              <a:buSzPts val="1080"/>
              <a:buFont typeface="Calibri"/>
              <a:buNone/>
            </a:pPr>
            <a:r>
              <a:rPr b="0" i="0" lang="en" sz="1080" u="none" cap="none" strike="noStrike">
                <a:solidFill>
                  <a:srgbClr val="A8B2BE"/>
                </a:solidFill>
                <a:latin typeface="Calibri"/>
                <a:ea typeface="Calibri"/>
                <a:cs typeface="Calibri"/>
                <a:sym typeface="Calibri"/>
              </a:rPr>
              <a:t>A100 and L4 produce nearly identical acceptance rates for the same task and concurrency. Rates reflect model-pair properties, not GPU tier — a useful invariant for planning.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